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ECA77B-376D-4436-86DB-F475EF5D7681}" v="4" dt="2025-09-01T23:04:3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70B011-9E33-42AF-AB70-D9B1583C10AA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88A78F-35F1-4857-A611-9C77D20E4200}">
      <dgm:prSet/>
      <dgm:spPr/>
      <dgm:t>
        <a:bodyPr/>
        <a:lstStyle/>
        <a:p>
          <a:r>
            <a:rPr lang="hu-HU"/>
            <a:t>IP (Internet Protokoll)</a:t>
          </a:r>
          <a:endParaRPr lang="en-US"/>
        </a:p>
      </dgm:t>
    </dgm:pt>
    <dgm:pt modelId="{A4005D62-CE1D-4697-8A68-1148AFC53666}" type="parTrans" cxnId="{C50988EC-1C16-44FC-A3A8-BCDBDDED3ED9}">
      <dgm:prSet/>
      <dgm:spPr/>
      <dgm:t>
        <a:bodyPr/>
        <a:lstStyle/>
        <a:p>
          <a:endParaRPr lang="en-US"/>
        </a:p>
      </dgm:t>
    </dgm:pt>
    <dgm:pt modelId="{7C75CA1E-C019-4DFD-A806-B482F3B89298}" type="sibTrans" cxnId="{C50988EC-1C16-44FC-A3A8-BCDBDDED3ED9}">
      <dgm:prSet/>
      <dgm:spPr/>
      <dgm:t>
        <a:bodyPr/>
        <a:lstStyle/>
        <a:p>
          <a:endParaRPr lang="en-US"/>
        </a:p>
      </dgm:t>
    </dgm:pt>
    <dgm:pt modelId="{DA602DA3-AED8-4626-A9B6-86395B160BB5}">
      <dgm:prSet/>
      <dgm:spPr/>
      <dgm:t>
        <a:bodyPr/>
        <a:lstStyle/>
        <a:p>
          <a:r>
            <a:rPr lang="hu-HU"/>
            <a:t>(Hálózati) Maszk</a:t>
          </a:r>
          <a:endParaRPr lang="en-US"/>
        </a:p>
      </dgm:t>
    </dgm:pt>
    <dgm:pt modelId="{F80589E7-464F-42E5-8E5C-12F65AA62650}" type="parTrans" cxnId="{E8CAF379-D83D-4DF8-BBAE-F8DFEA4AC5BA}">
      <dgm:prSet/>
      <dgm:spPr/>
      <dgm:t>
        <a:bodyPr/>
        <a:lstStyle/>
        <a:p>
          <a:endParaRPr lang="en-US"/>
        </a:p>
      </dgm:t>
    </dgm:pt>
    <dgm:pt modelId="{67D9F601-39D5-4B20-B0C0-8A513E609013}" type="sibTrans" cxnId="{E8CAF379-D83D-4DF8-BBAE-F8DFEA4AC5BA}">
      <dgm:prSet/>
      <dgm:spPr/>
      <dgm:t>
        <a:bodyPr/>
        <a:lstStyle/>
        <a:p>
          <a:endParaRPr lang="en-US"/>
        </a:p>
      </dgm:t>
    </dgm:pt>
    <dgm:pt modelId="{18109D3D-6DA9-4F25-9C43-2F132E2D7DFA}">
      <dgm:prSet/>
      <dgm:spPr/>
      <dgm:t>
        <a:bodyPr/>
        <a:lstStyle/>
        <a:p>
          <a:r>
            <a:rPr lang="hu-HU"/>
            <a:t>Alapértelmezett átjáró (Gateway)</a:t>
          </a:r>
          <a:endParaRPr lang="en-US"/>
        </a:p>
      </dgm:t>
    </dgm:pt>
    <dgm:pt modelId="{48CE5C1E-6837-4619-8607-29F0414AAA77}" type="parTrans" cxnId="{931D1E4D-A768-42BD-8688-D9F15D974EA2}">
      <dgm:prSet/>
      <dgm:spPr/>
      <dgm:t>
        <a:bodyPr/>
        <a:lstStyle/>
        <a:p>
          <a:endParaRPr lang="en-US"/>
        </a:p>
      </dgm:t>
    </dgm:pt>
    <dgm:pt modelId="{8775E965-765E-41CE-B08F-132B19B583ED}" type="sibTrans" cxnId="{931D1E4D-A768-42BD-8688-D9F15D974EA2}">
      <dgm:prSet/>
      <dgm:spPr/>
      <dgm:t>
        <a:bodyPr/>
        <a:lstStyle/>
        <a:p>
          <a:endParaRPr lang="en-US"/>
        </a:p>
      </dgm:t>
    </dgm:pt>
    <dgm:pt modelId="{1A39FC47-765B-496F-A6AB-16AD7DDA06BF}">
      <dgm:prSet/>
      <dgm:spPr/>
      <dgm:t>
        <a:bodyPr/>
        <a:lstStyle/>
        <a:p>
          <a:r>
            <a:rPr lang="hu-HU"/>
            <a:t>Router-ek</a:t>
          </a:r>
          <a:endParaRPr lang="en-US"/>
        </a:p>
      </dgm:t>
    </dgm:pt>
    <dgm:pt modelId="{B6F39EAE-8BD4-4AC2-8BEE-F34C6D36161E}" type="parTrans" cxnId="{7D8A006A-60A3-44BC-939B-8F4ED1CB9250}">
      <dgm:prSet/>
      <dgm:spPr/>
      <dgm:t>
        <a:bodyPr/>
        <a:lstStyle/>
        <a:p>
          <a:endParaRPr lang="en-US"/>
        </a:p>
      </dgm:t>
    </dgm:pt>
    <dgm:pt modelId="{067A23A3-5ACB-4F19-AE06-A555E7EDF698}" type="sibTrans" cxnId="{7D8A006A-60A3-44BC-939B-8F4ED1CB9250}">
      <dgm:prSet/>
      <dgm:spPr/>
      <dgm:t>
        <a:bodyPr/>
        <a:lstStyle/>
        <a:p>
          <a:endParaRPr lang="en-US"/>
        </a:p>
      </dgm:t>
    </dgm:pt>
    <dgm:pt modelId="{2EFB0A23-FFC2-4369-9FC5-B2C95FC1B28F}">
      <dgm:prSet/>
      <dgm:spPr/>
      <dgm:t>
        <a:bodyPr/>
        <a:lstStyle/>
        <a:p>
          <a:r>
            <a:rPr lang="hu-HU"/>
            <a:t>Switch-ek</a:t>
          </a:r>
          <a:endParaRPr lang="en-US"/>
        </a:p>
      </dgm:t>
    </dgm:pt>
    <dgm:pt modelId="{E06413FF-742A-451C-ADB7-2D5A9CD40F71}" type="parTrans" cxnId="{23EB78BF-719A-400E-AA36-53B736DD1B33}">
      <dgm:prSet/>
      <dgm:spPr/>
      <dgm:t>
        <a:bodyPr/>
        <a:lstStyle/>
        <a:p>
          <a:endParaRPr lang="en-US"/>
        </a:p>
      </dgm:t>
    </dgm:pt>
    <dgm:pt modelId="{CFE05EFB-BAD7-46B7-9CA3-950B3002973F}" type="sibTrans" cxnId="{23EB78BF-719A-400E-AA36-53B736DD1B33}">
      <dgm:prSet/>
      <dgm:spPr/>
      <dgm:t>
        <a:bodyPr/>
        <a:lstStyle/>
        <a:p>
          <a:endParaRPr lang="en-US"/>
        </a:p>
      </dgm:t>
    </dgm:pt>
    <dgm:pt modelId="{DA787A1A-5524-4BF5-9456-647F074C77E6}">
      <dgm:prSet/>
      <dgm:spPr/>
      <dgm:t>
        <a:bodyPr/>
        <a:lstStyle/>
        <a:p>
          <a:r>
            <a:rPr lang="hu-HU"/>
            <a:t>OSI vs TCP/IP modellek</a:t>
          </a:r>
          <a:endParaRPr lang="en-US"/>
        </a:p>
      </dgm:t>
    </dgm:pt>
    <dgm:pt modelId="{C114E720-DD10-465D-BAED-BD6B1BCCF876}" type="parTrans" cxnId="{B96B280F-D45A-41BD-9343-FDC3C029741C}">
      <dgm:prSet/>
      <dgm:spPr/>
      <dgm:t>
        <a:bodyPr/>
        <a:lstStyle/>
        <a:p>
          <a:endParaRPr lang="en-US"/>
        </a:p>
      </dgm:t>
    </dgm:pt>
    <dgm:pt modelId="{434455A6-8DDA-44F9-8938-579FFDC09E13}" type="sibTrans" cxnId="{B96B280F-D45A-41BD-9343-FDC3C029741C}">
      <dgm:prSet/>
      <dgm:spPr/>
      <dgm:t>
        <a:bodyPr/>
        <a:lstStyle/>
        <a:p>
          <a:endParaRPr lang="en-US"/>
        </a:p>
      </dgm:t>
    </dgm:pt>
    <dgm:pt modelId="{3615067B-AB5F-45E3-9511-5AA352412D36}" type="pres">
      <dgm:prSet presAssocID="{9370B011-9E33-42AF-AB70-D9B1583C10AA}" presName="diagram" presStyleCnt="0">
        <dgm:presLayoutVars>
          <dgm:dir/>
          <dgm:resizeHandles val="exact"/>
        </dgm:presLayoutVars>
      </dgm:prSet>
      <dgm:spPr/>
    </dgm:pt>
    <dgm:pt modelId="{E22A713A-9BB8-4F48-A019-04E95EFFF3FD}" type="pres">
      <dgm:prSet presAssocID="{A088A78F-35F1-4857-A611-9C77D20E4200}" presName="node" presStyleLbl="node1" presStyleIdx="0" presStyleCnt="6">
        <dgm:presLayoutVars>
          <dgm:bulletEnabled val="1"/>
        </dgm:presLayoutVars>
      </dgm:prSet>
      <dgm:spPr/>
    </dgm:pt>
    <dgm:pt modelId="{B079F84F-1F56-4DBF-B495-846FC6822E21}" type="pres">
      <dgm:prSet presAssocID="{7C75CA1E-C019-4DFD-A806-B482F3B89298}" presName="sibTrans" presStyleCnt="0"/>
      <dgm:spPr/>
    </dgm:pt>
    <dgm:pt modelId="{AD059234-BAF9-4990-A228-05AD794EFCEC}" type="pres">
      <dgm:prSet presAssocID="{DA602DA3-AED8-4626-A9B6-86395B160BB5}" presName="node" presStyleLbl="node1" presStyleIdx="1" presStyleCnt="6">
        <dgm:presLayoutVars>
          <dgm:bulletEnabled val="1"/>
        </dgm:presLayoutVars>
      </dgm:prSet>
      <dgm:spPr/>
    </dgm:pt>
    <dgm:pt modelId="{85FAC648-8F03-427F-913C-EEA129766817}" type="pres">
      <dgm:prSet presAssocID="{67D9F601-39D5-4B20-B0C0-8A513E609013}" presName="sibTrans" presStyleCnt="0"/>
      <dgm:spPr/>
    </dgm:pt>
    <dgm:pt modelId="{F84BFC1D-C469-42AE-ADC8-E1EE005A7763}" type="pres">
      <dgm:prSet presAssocID="{18109D3D-6DA9-4F25-9C43-2F132E2D7DFA}" presName="node" presStyleLbl="node1" presStyleIdx="2" presStyleCnt="6">
        <dgm:presLayoutVars>
          <dgm:bulletEnabled val="1"/>
        </dgm:presLayoutVars>
      </dgm:prSet>
      <dgm:spPr/>
    </dgm:pt>
    <dgm:pt modelId="{69FC8960-B250-4F94-A41F-6F8C6604FC1D}" type="pres">
      <dgm:prSet presAssocID="{8775E965-765E-41CE-B08F-132B19B583ED}" presName="sibTrans" presStyleCnt="0"/>
      <dgm:spPr/>
    </dgm:pt>
    <dgm:pt modelId="{C49BD001-1AED-4311-8B20-C16904969974}" type="pres">
      <dgm:prSet presAssocID="{1A39FC47-765B-496F-A6AB-16AD7DDA06BF}" presName="node" presStyleLbl="node1" presStyleIdx="3" presStyleCnt="6">
        <dgm:presLayoutVars>
          <dgm:bulletEnabled val="1"/>
        </dgm:presLayoutVars>
      </dgm:prSet>
      <dgm:spPr/>
    </dgm:pt>
    <dgm:pt modelId="{86246A89-C5FD-45CA-8553-CFCFA2FAD202}" type="pres">
      <dgm:prSet presAssocID="{067A23A3-5ACB-4F19-AE06-A555E7EDF698}" presName="sibTrans" presStyleCnt="0"/>
      <dgm:spPr/>
    </dgm:pt>
    <dgm:pt modelId="{7ECD3A7E-8455-41E4-AC83-8A544B727D5B}" type="pres">
      <dgm:prSet presAssocID="{2EFB0A23-FFC2-4369-9FC5-B2C95FC1B28F}" presName="node" presStyleLbl="node1" presStyleIdx="4" presStyleCnt="6">
        <dgm:presLayoutVars>
          <dgm:bulletEnabled val="1"/>
        </dgm:presLayoutVars>
      </dgm:prSet>
      <dgm:spPr/>
    </dgm:pt>
    <dgm:pt modelId="{CFB79CEF-FF37-40D9-87CD-915DC96F28DB}" type="pres">
      <dgm:prSet presAssocID="{CFE05EFB-BAD7-46B7-9CA3-950B3002973F}" presName="sibTrans" presStyleCnt="0"/>
      <dgm:spPr/>
    </dgm:pt>
    <dgm:pt modelId="{659FA159-68F4-445E-A9B3-C753AF943F40}" type="pres">
      <dgm:prSet presAssocID="{DA787A1A-5524-4BF5-9456-647F074C77E6}" presName="node" presStyleLbl="node1" presStyleIdx="5" presStyleCnt="6">
        <dgm:presLayoutVars>
          <dgm:bulletEnabled val="1"/>
        </dgm:presLayoutVars>
      </dgm:prSet>
      <dgm:spPr/>
    </dgm:pt>
  </dgm:ptLst>
  <dgm:cxnLst>
    <dgm:cxn modelId="{2106930C-2E85-49E5-8827-23EC5C56D7B0}" type="presOf" srcId="{A088A78F-35F1-4857-A611-9C77D20E4200}" destId="{E22A713A-9BB8-4F48-A019-04E95EFFF3FD}" srcOrd="0" destOrd="0" presId="urn:microsoft.com/office/officeart/2005/8/layout/default"/>
    <dgm:cxn modelId="{B96B280F-D45A-41BD-9343-FDC3C029741C}" srcId="{9370B011-9E33-42AF-AB70-D9B1583C10AA}" destId="{DA787A1A-5524-4BF5-9456-647F074C77E6}" srcOrd="5" destOrd="0" parTransId="{C114E720-DD10-465D-BAED-BD6B1BCCF876}" sibTransId="{434455A6-8DDA-44F9-8938-579FFDC09E13}"/>
    <dgm:cxn modelId="{FC98171A-957C-418A-91F6-2CFE50C5012A}" type="presOf" srcId="{2EFB0A23-FFC2-4369-9FC5-B2C95FC1B28F}" destId="{7ECD3A7E-8455-41E4-AC83-8A544B727D5B}" srcOrd="0" destOrd="0" presId="urn:microsoft.com/office/officeart/2005/8/layout/default"/>
    <dgm:cxn modelId="{0C922D43-0EAE-4CED-A073-BFBDEEF99AE8}" type="presOf" srcId="{18109D3D-6DA9-4F25-9C43-2F132E2D7DFA}" destId="{F84BFC1D-C469-42AE-ADC8-E1EE005A7763}" srcOrd="0" destOrd="0" presId="urn:microsoft.com/office/officeart/2005/8/layout/default"/>
    <dgm:cxn modelId="{55D65D46-A066-4A86-B938-B2DAA9BB4741}" type="presOf" srcId="{DA787A1A-5524-4BF5-9456-647F074C77E6}" destId="{659FA159-68F4-445E-A9B3-C753AF943F40}" srcOrd="0" destOrd="0" presId="urn:microsoft.com/office/officeart/2005/8/layout/default"/>
    <dgm:cxn modelId="{7D8A006A-60A3-44BC-939B-8F4ED1CB9250}" srcId="{9370B011-9E33-42AF-AB70-D9B1583C10AA}" destId="{1A39FC47-765B-496F-A6AB-16AD7DDA06BF}" srcOrd="3" destOrd="0" parTransId="{B6F39EAE-8BD4-4AC2-8BEE-F34C6D36161E}" sibTransId="{067A23A3-5ACB-4F19-AE06-A555E7EDF698}"/>
    <dgm:cxn modelId="{931D1E4D-A768-42BD-8688-D9F15D974EA2}" srcId="{9370B011-9E33-42AF-AB70-D9B1583C10AA}" destId="{18109D3D-6DA9-4F25-9C43-2F132E2D7DFA}" srcOrd="2" destOrd="0" parTransId="{48CE5C1E-6837-4619-8607-29F0414AAA77}" sibTransId="{8775E965-765E-41CE-B08F-132B19B583ED}"/>
    <dgm:cxn modelId="{9A414A6F-5408-4A83-8B83-CD3113A728FC}" type="presOf" srcId="{1A39FC47-765B-496F-A6AB-16AD7DDA06BF}" destId="{C49BD001-1AED-4311-8B20-C16904969974}" srcOrd="0" destOrd="0" presId="urn:microsoft.com/office/officeart/2005/8/layout/default"/>
    <dgm:cxn modelId="{E8CAF379-D83D-4DF8-BBAE-F8DFEA4AC5BA}" srcId="{9370B011-9E33-42AF-AB70-D9B1583C10AA}" destId="{DA602DA3-AED8-4626-A9B6-86395B160BB5}" srcOrd="1" destOrd="0" parTransId="{F80589E7-464F-42E5-8E5C-12F65AA62650}" sibTransId="{67D9F601-39D5-4B20-B0C0-8A513E609013}"/>
    <dgm:cxn modelId="{C9A896A8-C27A-4E9B-A5CF-842A6C4C70A0}" type="presOf" srcId="{9370B011-9E33-42AF-AB70-D9B1583C10AA}" destId="{3615067B-AB5F-45E3-9511-5AA352412D36}" srcOrd="0" destOrd="0" presId="urn:microsoft.com/office/officeart/2005/8/layout/default"/>
    <dgm:cxn modelId="{95EA46B0-C061-4F5D-8967-520E945C179F}" type="presOf" srcId="{DA602DA3-AED8-4626-A9B6-86395B160BB5}" destId="{AD059234-BAF9-4990-A228-05AD794EFCEC}" srcOrd="0" destOrd="0" presId="urn:microsoft.com/office/officeart/2005/8/layout/default"/>
    <dgm:cxn modelId="{23EB78BF-719A-400E-AA36-53B736DD1B33}" srcId="{9370B011-9E33-42AF-AB70-D9B1583C10AA}" destId="{2EFB0A23-FFC2-4369-9FC5-B2C95FC1B28F}" srcOrd="4" destOrd="0" parTransId="{E06413FF-742A-451C-ADB7-2D5A9CD40F71}" sibTransId="{CFE05EFB-BAD7-46B7-9CA3-950B3002973F}"/>
    <dgm:cxn modelId="{C50988EC-1C16-44FC-A3A8-BCDBDDED3ED9}" srcId="{9370B011-9E33-42AF-AB70-D9B1583C10AA}" destId="{A088A78F-35F1-4857-A611-9C77D20E4200}" srcOrd="0" destOrd="0" parTransId="{A4005D62-CE1D-4697-8A68-1148AFC53666}" sibTransId="{7C75CA1E-C019-4DFD-A806-B482F3B89298}"/>
    <dgm:cxn modelId="{6D6D6163-3B6B-427E-BB30-E8D865BA5C9A}" type="presParOf" srcId="{3615067B-AB5F-45E3-9511-5AA352412D36}" destId="{E22A713A-9BB8-4F48-A019-04E95EFFF3FD}" srcOrd="0" destOrd="0" presId="urn:microsoft.com/office/officeart/2005/8/layout/default"/>
    <dgm:cxn modelId="{6411EE18-100A-448B-9D87-1773207D84C3}" type="presParOf" srcId="{3615067B-AB5F-45E3-9511-5AA352412D36}" destId="{B079F84F-1F56-4DBF-B495-846FC6822E21}" srcOrd="1" destOrd="0" presId="urn:microsoft.com/office/officeart/2005/8/layout/default"/>
    <dgm:cxn modelId="{6076F940-0ADA-4E56-8987-619605588F26}" type="presParOf" srcId="{3615067B-AB5F-45E3-9511-5AA352412D36}" destId="{AD059234-BAF9-4990-A228-05AD794EFCEC}" srcOrd="2" destOrd="0" presId="urn:microsoft.com/office/officeart/2005/8/layout/default"/>
    <dgm:cxn modelId="{FCAE8B00-1EB9-457D-999E-4270748D8104}" type="presParOf" srcId="{3615067B-AB5F-45E3-9511-5AA352412D36}" destId="{85FAC648-8F03-427F-913C-EEA129766817}" srcOrd="3" destOrd="0" presId="urn:microsoft.com/office/officeart/2005/8/layout/default"/>
    <dgm:cxn modelId="{B54B52DC-5499-47EB-9CA3-BBA629E3565F}" type="presParOf" srcId="{3615067B-AB5F-45E3-9511-5AA352412D36}" destId="{F84BFC1D-C469-42AE-ADC8-E1EE005A7763}" srcOrd="4" destOrd="0" presId="urn:microsoft.com/office/officeart/2005/8/layout/default"/>
    <dgm:cxn modelId="{EF26F2B4-1288-46A4-A617-3C8E84409673}" type="presParOf" srcId="{3615067B-AB5F-45E3-9511-5AA352412D36}" destId="{69FC8960-B250-4F94-A41F-6F8C6604FC1D}" srcOrd="5" destOrd="0" presId="urn:microsoft.com/office/officeart/2005/8/layout/default"/>
    <dgm:cxn modelId="{A273D167-2E9A-460A-89D2-A9D03EBA66B1}" type="presParOf" srcId="{3615067B-AB5F-45E3-9511-5AA352412D36}" destId="{C49BD001-1AED-4311-8B20-C16904969974}" srcOrd="6" destOrd="0" presId="urn:microsoft.com/office/officeart/2005/8/layout/default"/>
    <dgm:cxn modelId="{CEF07FF9-9DEA-4150-939C-BC766803E542}" type="presParOf" srcId="{3615067B-AB5F-45E3-9511-5AA352412D36}" destId="{86246A89-C5FD-45CA-8553-CFCFA2FAD202}" srcOrd="7" destOrd="0" presId="urn:microsoft.com/office/officeart/2005/8/layout/default"/>
    <dgm:cxn modelId="{7C976D6A-3FEC-4039-81A4-88789BF66114}" type="presParOf" srcId="{3615067B-AB5F-45E3-9511-5AA352412D36}" destId="{7ECD3A7E-8455-41E4-AC83-8A544B727D5B}" srcOrd="8" destOrd="0" presId="urn:microsoft.com/office/officeart/2005/8/layout/default"/>
    <dgm:cxn modelId="{187BF6B8-CF13-462B-BF1B-31213EB6D4AA}" type="presParOf" srcId="{3615067B-AB5F-45E3-9511-5AA352412D36}" destId="{CFB79CEF-FF37-40D9-87CD-915DC96F28DB}" srcOrd="9" destOrd="0" presId="urn:microsoft.com/office/officeart/2005/8/layout/default"/>
    <dgm:cxn modelId="{D5A28A2B-E175-46A6-BF29-E8DD9C32F8C2}" type="presParOf" srcId="{3615067B-AB5F-45E3-9511-5AA352412D36}" destId="{659FA159-68F4-445E-A9B3-C753AF943F4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A713A-9BB8-4F48-A019-04E95EFFF3FD}">
      <dsp:nvSpPr>
        <dsp:cNvPr id="0" name=""/>
        <dsp:cNvSpPr/>
      </dsp:nvSpPr>
      <dsp:spPr>
        <a:xfrm>
          <a:off x="595907" y="787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IP (Internet Protokoll)</a:t>
          </a:r>
          <a:endParaRPr lang="en-US" sz="3000" kern="1200"/>
        </a:p>
      </dsp:txBody>
      <dsp:txXfrm>
        <a:off x="595907" y="787"/>
        <a:ext cx="2723182" cy="1633909"/>
      </dsp:txXfrm>
    </dsp:sp>
    <dsp:sp modelId="{AD059234-BAF9-4990-A228-05AD794EFCEC}">
      <dsp:nvSpPr>
        <dsp:cNvPr id="0" name=""/>
        <dsp:cNvSpPr/>
      </dsp:nvSpPr>
      <dsp:spPr>
        <a:xfrm>
          <a:off x="3591408" y="787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957616"/>
                <a:satOff val="-2910"/>
                <a:lumOff val="-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957616"/>
                <a:satOff val="-2910"/>
                <a:lumOff val="-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(Hálózati) Maszk</a:t>
          </a:r>
          <a:endParaRPr lang="en-US" sz="3000" kern="1200"/>
        </a:p>
      </dsp:txBody>
      <dsp:txXfrm>
        <a:off x="3591408" y="787"/>
        <a:ext cx="2723182" cy="1633909"/>
      </dsp:txXfrm>
    </dsp:sp>
    <dsp:sp modelId="{F84BFC1D-C469-42AE-ADC8-E1EE005A7763}">
      <dsp:nvSpPr>
        <dsp:cNvPr id="0" name=""/>
        <dsp:cNvSpPr/>
      </dsp:nvSpPr>
      <dsp:spPr>
        <a:xfrm>
          <a:off x="6586909" y="787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1915233"/>
                <a:satOff val="-5820"/>
                <a:lumOff val="-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1915233"/>
                <a:satOff val="-5820"/>
                <a:lumOff val="-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Alapértelmezett átjáró (Gateway)</a:t>
          </a:r>
          <a:endParaRPr lang="en-US" sz="3000" kern="1200"/>
        </a:p>
      </dsp:txBody>
      <dsp:txXfrm>
        <a:off x="6586909" y="787"/>
        <a:ext cx="2723182" cy="1633909"/>
      </dsp:txXfrm>
    </dsp:sp>
    <dsp:sp modelId="{C49BD001-1AED-4311-8B20-C16904969974}">
      <dsp:nvSpPr>
        <dsp:cNvPr id="0" name=""/>
        <dsp:cNvSpPr/>
      </dsp:nvSpPr>
      <dsp:spPr>
        <a:xfrm>
          <a:off x="595907" y="1907015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2872849"/>
                <a:satOff val="-8731"/>
                <a:lumOff val="-11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2872849"/>
                <a:satOff val="-8731"/>
                <a:lumOff val="-11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Router-ek</a:t>
          </a:r>
          <a:endParaRPr lang="en-US" sz="3000" kern="1200"/>
        </a:p>
      </dsp:txBody>
      <dsp:txXfrm>
        <a:off x="595907" y="1907015"/>
        <a:ext cx="2723182" cy="1633909"/>
      </dsp:txXfrm>
    </dsp:sp>
    <dsp:sp modelId="{7ECD3A7E-8455-41E4-AC83-8A544B727D5B}">
      <dsp:nvSpPr>
        <dsp:cNvPr id="0" name=""/>
        <dsp:cNvSpPr/>
      </dsp:nvSpPr>
      <dsp:spPr>
        <a:xfrm>
          <a:off x="3591408" y="1907015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3830465"/>
                <a:satOff val="-11641"/>
                <a:lumOff val="-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3830465"/>
                <a:satOff val="-11641"/>
                <a:lumOff val="-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Switch-ek</a:t>
          </a:r>
          <a:endParaRPr lang="en-US" sz="3000" kern="1200"/>
        </a:p>
      </dsp:txBody>
      <dsp:txXfrm>
        <a:off x="3591408" y="1907015"/>
        <a:ext cx="2723182" cy="1633909"/>
      </dsp:txXfrm>
    </dsp:sp>
    <dsp:sp modelId="{659FA159-68F4-445E-A9B3-C753AF943F40}">
      <dsp:nvSpPr>
        <dsp:cNvPr id="0" name=""/>
        <dsp:cNvSpPr/>
      </dsp:nvSpPr>
      <dsp:spPr>
        <a:xfrm>
          <a:off x="6586909" y="1907015"/>
          <a:ext cx="2723182" cy="1633909"/>
        </a:xfrm>
        <a:prstGeom prst="rect">
          <a:avLst/>
        </a:prstGeom>
        <a:gradFill rotWithShape="0">
          <a:gsLst>
            <a:gs pos="0">
              <a:schemeClr val="accent2">
                <a:hueOff val="4788082"/>
                <a:satOff val="-14551"/>
                <a:lumOff val="-19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4788082"/>
                <a:satOff val="-14551"/>
                <a:lumOff val="-19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000" kern="1200"/>
            <a:t>OSI vs TCP/IP modellek</a:t>
          </a:r>
          <a:endParaRPr lang="en-US" sz="3000" kern="1200"/>
        </a:p>
      </dsp:txBody>
      <dsp:txXfrm>
        <a:off x="6586909" y="1907015"/>
        <a:ext cx="2723182" cy="1633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748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5719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7416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470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46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2423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482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10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441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95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367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641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2045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4292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1087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1326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579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E991F-7E90-48C8-8C2D-E25A3CE47BAE}" type="datetimeFigureOut">
              <a:rPr lang="hu-HU" smtClean="0"/>
              <a:t>2025. 09. 02.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36C9D-29C7-4D4C-AC86-807BDE3941B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51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1B47BC9-5A17-8A0A-99BE-9D8F854BB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/>
          </a:bodyPr>
          <a:lstStyle/>
          <a:p>
            <a:pPr algn="ctr"/>
            <a:r>
              <a:rPr lang="hu-HU">
                <a:solidFill>
                  <a:srgbClr val="FFFFFF"/>
                </a:solidFill>
              </a:rPr>
              <a:t>IPv4 alapok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F07AC4A-5043-4F3A-7CE1-DFCC4C1C1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hu-HU">
                <a:solidFill>
                  <a:schemeClr val="bg2"/>
                </a:solidFill>
              </a:rPr>
              <a:t>Kender Szabolcs Viktor</a:t>
            </a:r>
          </a:p>
        </p:txBody>
      </p:sp>
    </p:spTree>
    <p:extLst>
      <p:ext uri="{BB962C8B-B14F-4D97-AF65-F5344CB8AC3E}">
        <p14:creationId xmlns:p14="http://schemas.microsoft.com/office/powerpoint/2010/main" val="2733782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CBA5275-49AB-CFB3-8A28-ACBFEFED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Fontosabb fogalmak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A604DC16-2D35-DACE-FCF3-51AEFB01E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879798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887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575E7B-5C84-468C-A91B-D0749837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Internet Protokoll v4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E70BFC0-37A1-94D5-E9D8-B6840C07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32 bitből áll össze (vagyis 4db 8 számjegyű bináris számból)</a:t>
            </a:r>
          </a:p>
          <a:p>
            <a:r>
              <a:rPr lang="hu-HU" dirty="0"/>
              <a:t>Minden üzenet tartalmazza a forrás címét és az elérni kívánt címet.</a:t>
            </a:r>
          </a:p>
          <a:p>
            <a:r>
              <a:rPr lang="hu-HU" dirty="0"/>
              <a:t>Hálózati cím (Network </a:t>
            </a:r>
            <a:r>
              <a:rPr lang="hu-HU" dirty="0" err="1"/>
              <a:t>Address</a:t>
            </a:r>
            <a:r>
              <a:rPr lang="hu-HU" dirty="0"/>
              <a:t>)</a:t>
            </a:r>
          </a:p>
          <a:p>
            <a:r>
              <a:rPr lang="hu-HU" dirty="0" err="1"/>
              <a:t>Broadcast</a:t>
            </a:r>
            <a:r>
              <a:rPr lang="hu-HU" dirty="0"/>
              <a:t> cím (</a:t>
            </a:r>
            <a:r>
              <a:rPr lang="hu-HU" dirty="0" err="1"/>
              <a:t>Broadcast</a:t>
            </a:r>
            <a:r>
              <a:rPr lang="hu-HU" dirty="0"/>
              <a:t> </a:t>
            </a:r>
            <a:r>
              <a:rPr lang="hu-HU" dirty="0" err="1"/>
              <a:t>Address</a:t>
            </a:r>
            <a:r>
              <a:rPr lang="hu-HU" dirty="0"/>
              <a:t>)</a:t>
            </a:r>
          </a:p>
          <a:p>
            <a:r>
              <a:rPr lang="hu-HU" dirty="0"/>
              <a:t>Formátum:</a:t>
            </a:r>
          </a:p>
          <a:p>
            <a:pPr lvl="1"/>
            <a:r>
              <a:rPr lang="hu-HU" dirty="0"/>
              <a:t>X.X.X.X/M</a:t>
            </a:r>
          </a:p>
          <a:p>
            <a:pPr lvl="1"/>
            <a:r>
              <a:rPr lang="hu-HU" dirty="0"/>
              <a:t>Pl. 192.168.0.1/24</a:t>
            </a:r>
          </a:p>
        </p:txBody>
      </p:sp>
    </p:spTree>
    <p:extLst>
      <p:ext uri="{BB962C8B-B14F-4D97-AF65-F5344CB8AC3E}">
        <p14:creationId xmlns:p14="http://schemas.microsoft.com/office/powerpoint/2010/main" val="71254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45A2F6-ABD7-47AB-2C47-9F49F4DFC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u-HU" dirty="0"/>
              <a:t>Hálózati maszk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5AA480-FC62-8474-C50B-44AFB1F3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84663"/>
          </a:xfrm>
        </p:spPr>
        <p:txBody>
          <a:bodyPr>
            <a:normAutofit fontScale="92500" lnSpcReduction="10000"/>
          </a:bodyPr>
          <a:lstStyle/>
          <a:p>
            <a:r>
              <a:rPr lang="hu-HU" sz="2000" dirty="0"/>
              <a:t>Ez úgyszintén egy IPv4-es formátumú IP, amire példát fogunk nézni később</a:t>
            </a:r>
          </a:p>
          <a:p>
            <a:r>
              <a:rPr lang="hu-HU" sz="2000" dirty="0"/>
              <a:t>A hálózati maszk (angolul </a:t>
            </a:r>
            <a:r>
              <a:rPr lang="hu-HU" sz="2000" dirty="0" err="1"/>
              <a:t>network</a:t>
            </a:r>
            <a:r>
              <a:rPr lang="hu-HU" sz="2000" dirty="0"/>
              <a:t> </a:t>
            </a:r>
            <a:r>
              <a:rPr lang="hu-HU" sz="2000" dirty="0" err="1"/>
              <a:t>mask</a:t>
            </a:r>
            <a:r>
              <a:rPr lang="hu-HU" sz="2000" dirty="0"/>
              <a:t> vagy </a:t>
            </a:r>
            <a:r>
              <a:rPr lang="hu-HU" sz="2000" dirty="0" err="1"/>
              <a:t>subnet</a:t>
            </a:r>
            <a:r>
              <a:rPr lang="hu-HU" sz="2000" dirty="0"/>
              <a:t> </a:t>
            </a:r>
            <a:r>
              <a:rPr lang="hu-HU" sz="2000" dirty="0" err="1"/>
              <a:t>mask</a:t>
            </a:r>
            <a:r>
              <a:rPr lang="hu-HU" sz="2000" dirty="0"/>
              <a:t>) az IPv4 címzésben arra szolgál, hogy megmondja, az IP-cím mely része jelöli a hálózatot, és mely része a gazdagépet (</a:t>
            </a:r>
            <a:r>
              <a:rPr lang="hu-HU" sz="2000" dirty="0" err="1"/>
              <a:t>hostot</a:t>
            </a:r>
            <a:r>
              <a:rPr lang="hu-HU" sz="2000" dirty="0"/>
              <a:t>).</a:t>
            </a:r>
          </a:p>
          <a:p>
            <a:r>
              <a:rPr lang="hu-HU" sz="2000" dirty="0"/>
              <a:t>IP-cím felosztása két részre:</a:t>
            </a:r>
          </a:p>
          <a:p>
            <a:pPr lvl="1"/>
            <a:r>
              <a:rPr lang="hu-HU" sz="1800" dirty="0"/>
              <a:t>Hálózati rész → azonosítja, melyik hálózathoz tartozik a cím.</a:t>
            </a:r>
          </a:p>
          <a:p>
            <a:pPr lvl="1"/>
            <a:r>
              <a:rPr lang="hu-HU" sz="1800" dirty="0" err="1"/>
              <a:t>Hoszt</a:t>
            </a:r>
            <a:r>
              <a:rPr lang="hu-HU" sz="1800" dirty="0"/>
              <a:t> rész → az adott hálózaton belül a konkrét eszközt jelöli.</a:t>
            </a:r>
          </a:p>
          <a:p>
            <a:r>
              <a:rPr lang="hu-HU" sz="2000" dirty="0"/>
              <a:t>Irányítás (</a:t>
            </a:r>
            <a:r>
              <a:rPr lang="hu-HU" sz="2000" dirty="0" err="1"/>
              <a:t>Routing</a:t>
            </a:r>
            <a:r>
              <a:rPr lang="hu-HU" sz="2000" dirty="0"/>
              <a:t>) segítése</a:t>
            </a:r>
          </a:p>
          <a:p>
            <a:r>
              <a:rPr lang="hu-HU" sz="2000" dirty="0"/>
              <a:t>Alhálózatok (</a:t>
            </a:r>
            <a:r>
              <a:rPr lang="hu-HU" sz="2000" dirty="0" err="1"/>
              <a:t>subnetek</a:t>
            </a:r>
            <a:r>
              <a:rPr lang="hu-HU" sz="2000" dirty="0"/>
              <a:t>) létrehozása</a:t>
            </a:r>
          </a:p>
          <a:p>
            <a:r>
              <a:rPr lang="hu-HU" sz="2000" dirty="0"/>
              <a:t>Formátum:</a:t>
            </a:r>
          </a:p>
          <a:p>
            <a:pPr lvl="1"/>
            <a:r>
              <a:rPr lang="hu-HU" sz="1600" dirty="0"/>
              <a:t>X.X.X.X vagy /M</a:t>
            </a:r>
          </a:p>
          <a:p>
            <a:pPr lvl="1"/>
            <a:r>
              <a:rPr lang="hu-HU" sz="1600" dirty="0"/>
              <a:t>Pl. 255.255.255.0 vagy /24</a:t>
            </a:r>
          </a:p>
        </p:txBody>
      </p:sp>
    </p:spTree>
    <p:extLst>
      <p:ext uri="{BB962C8B-B14F-4D97-AF65-F5344CB8AC3E}">
        <p14:creationId xmlns:p14="http://schemas.microsoft.com/office/powerpoint/2010/main" val="405483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D90FC6-153D-D686-F51B-B48CE8D2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Default</a:t>
            </a:r>
            <a:r>
              <a:rPr lang="hu-HU" dirty="0"/>
              <a:t> </a:t>
            </a:r>
            <a:r>
              <a:rPr lang="hu-HU" dirty="0" err="1"/>
              <a:t>gateway</a:t>
            </a:r>
            <a:r>
              <a:rPr lang="hu-HU" dirty="0"/>
              <a:t> (alapértelmezett átjáró)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A118D1-4AD2-D266-C068-F5CD963FA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Amikor egy számítógép vagy eszköz más hálózatban lévő címhez akar csatlakozni, az adatcsomagokat a </a:t>
            </a:r>
            <a:r>
              <a:rPr lang="hu-HU" dirty="0" err="1"/>
              <a:t>gateway-hez</a:t>
            </a:r>
            <a:r>
              <a:rPr lang="hu-HU" dirty="0"/>
              <a:t> küldi, amely továbbítja őket a megfelelő irányba.</a:t>
            </a:r>
          </a:p>
          <a:p>
            <a:r>
              <a:rPr lang="hu-HU" dirty="0"/>
              <a:t>A címe egyszerű IPv4-es formátumú és megegyezik a címtartománya az eszközökével, amik őt próbálják elérni.</a:t>
            </a:r>
          </a:p>
        </p:txBody>
      </p:sp>
    </p:spTree>
    <p:extLst>
      <p:ext uri="{BB962C8B-B14F-4D97-AF65-F5344CB8AC3E}">
        <p14:creationId xmlns:p14="http://schemas.microsoft.com/office/powerpoint/2010/main" val="418135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E58C78-1161-B034-8BB9-BED157696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u-HU" dirty="0"/>
              <a:t>Routerek (irányítók)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DBF15D-BA9D-6F04-A3AB-161136375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Csomagokat továbbít</a:t>
            </a:r>
          </a:p>
          <a:p>
            <a:r>
              <a:rPr lang="hu-HU" dirty="0"/>
              <a:t>Irányít hálózatok között</a:t>
            </a:r>
          </a:p>
          <a:p>
            <a:r>
              <a:rPr lang="hu-HU" dirty="0"/>
              <a:t>Forgalom korlátozása, szegmentálás</a:t>
            </a:r>
          </a:p>
          <a:p>
            <a:r>
              <a:rPr lang="hu-HU" dirty="0"/>
              <a:t>NAT (PAT)</a:t>
            </a:r>
          </a:p>
          <a:p>
            <a:r>
              <a:rPr lang="hu-HU" dirty="0">
                <a:solidFill>
                  <a:schemeClr val="tx1">
                    <a:lumMod val="65000"/>
                  </a:schemeClr>
                </a:solidFill>
              </a:rPr>
              <a:t>ACL</a:t>
            </a:r>
          </a:p>
          <a:p>
            <a:r>
              <a:rPr lang="hu-HU" dirty="0" err="1">
                <a:solidFill>
                  <a:schemeClr val="tx1">
                    <a:lumMod val="65000"/>
                  </a:schemeClr>
                </a:solidFill>
              </a:rPr>
              <a:t>QoS</a:t>
            </a:r>
            <a:endParaRPr lang="hu-HU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0AC560-DC54-2916-3168-BA7926ED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u-HU" dirty="0" err="1"/>
              <a:t>Switchek</a:t>
            </a:r>
            <a:r>
              <a:rPr lang="hu-HU" dirty="0"/>
              <a:t> (kapcsolók)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105294-B5D6-8E96-C675-4D4674C5F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22763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dirty="0" err="1"/>
              <a:t>switch</a:t>
            </a:r>
            <a:r>
              <a:rPr lang="hu-HU" dirty="0"/>
              <a:t> (kapcsoló) a helyi hálózat (LAN) egyik alapvető eszköze. Feladata, hogy a beérkező adatkereteket (Ethernet </a:t>
            </a:r>
            <a:r>
              <a:rPr lang="hu-HU" dirty="0" err="1"/>
              <a:t>frame-eket</a:t>
            </a:r>
            <a:r>
              <a:rPr lang="hu-HU" dirty="0"/>
              <a:t>) a megfelelő kimeneti </a:t>
            </a:r>
            <a:r>
              <a:rPr lang="hu-HU" dirty="0" err="1"/>
              <a:t>portra</a:t>
            </a:r>
            <a:r>
              <a:rPr lang="hu-HU" dirty="0"/>
              <a:t> továbbítsa, így csak a célgép kapja meg azokat, nem mindenki.</a:t>
            </a:r>
          </a:p>
          <a:p>
            <a:r>
              <a:rPr lang="hu-HU" dirty="0"/>
              <a:t>Adatkereteket továbbít</a:t>
            </a:r>
          </a:p>
          <a:p>
            <a:r>
              <a:rPr lang="hu-HU" dirty="0"/>
              <a:t>MAC-cím tanulás alapján irányít hálózaton belül</a:t>
            </a:r>
          </a:p>
          <a:p>
            <a:r>
              <a:rPr lang="hu-HU" dirty="0" err="1"/>
              <a:t>Broadcast</a:t>
            </a:r>
            <a:r>
              <a:rPr lang="hu-HU" dirty="0"/>
              <a:t>, </a:t>
            </a:r>
            <a:r>
              <a:rPr lang="hu-HU" dirty="0" err="1"/>
              <a:t>Unicast</a:t>
            </a:r>
            <a:r>
              <a:rPr lang="hu-HU" dirty="0"/>
              <a:t>, </a:t>
            </a:r>
            <a:r>
              <a:rPr lang="hu-HU" dirty="0" err="1"/>
              <a:t>Multicast</a:t>
            </a:r>
            <a:r>
              <a:rPr lang="hu-HU" dirty="0"/>
              <a:t> kezelése</a:t>
            </a:r>
          </a:p>
          <a:p>
            <a:r>
              <a:rPr lang="hu-HU" dirty="0"/>
              <a:t>VLAN-kezelés</a:t>
            </a:r>
          </a:p>
        </p:txBody>
      </p:sp>
    </p:spTree>
    <p:extLst>
      <p:ext uri="{BB962C8B-B14F-4D97-AF65-F5344CB8AC3E}">
        <p14:creationId xmlns:p14="http://schemas.microsoft.com/office/powerpoint/2010/main" val="707923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A6D5A9-3E20-92D0-7851-8C524A6B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6225"/>
            <a:ext cx="9905998" cy="1362075"/>
          </a:xfrm>
        </p:spPr>
        <p:txBody>
          <a:bodyPr/>
          <a:lstStyle/>
          <a:p>
            <a:r>
              <a:rPr lang="hu-HU" dirty="0"/>
              <a:t>OSI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TCp/IP</a:t>
            </a:r>
            <a:r>
              <a:rPr lang="hu-HU" dirty="0"/>
              <a:t> modell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AED133FF-1AEF-AF96-85D1-F66162D31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685" y="1638300"/>
            <a:ext cx="9163454" cy="458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51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4789F0EC2FE68C418F4DD25FFF4C8CDB" ma:contentTypeVersion="37" ma:contentTypeDescription="Új dokumentum létrehozása." ma:contentTypeScope="" ma:versionID="ce24afb98e10528867fd802c8798564d">
  <xsd:schema xmlns:xsd="http://www.w3.org/2001/XMLSchema" xmlns:xs="http://www.w3.org/2001/XMLSchema" xmlns:p="http://schemas.microsoft.com/office/2006/metadata/properties" xmlns:ns3="5ce15542-950a-4a61-905b-0bb11feedd0a" xmlns:ns4="486236ac-c889-4d95-826e-01d5fd05f994" targetNamespace="http://schemas.microsoft.com/office/2006/metadata/properties" ma:root="true" ma:fieldsID="ad94b4e158a9ea7389923ae34b19257c" ns3:_="" ns4:_="">
    <xsd:import namespace="5ce15542-950a-4a61-905b-0bb11feedd0a"/>
    <xsd:import namespace="486236ac-c889-4d95-826e-01d5fd05f99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Math_Settings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Distribution_Groups" minOccurs="0"/>
                <xsd:element ref="ns4:LMS_Mapping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  <xsd:element ref="ns4:Teams_Channel_Section_Location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15542-950a-4a61-905b-0bb11feedd0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Megosztási tipp kivonat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6236ac-c889-4d95-826e-01d5fd05f994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3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5" nillable="true" ma:displayName="Tags" ma:internalName="MediaServiceAutoTags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41" nillable="true" ma:displayName="_activity" ma:hidden="true" ma:internalName="_activity">
      <xsd:simpleType>
        <xsd:restriction base="dms:Note"/>
      </xsd:simpleType>
    </xsd:element>
    <xsd:element name="MediaServiceObjectDetectorVersions" ma:index="4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4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486236ac-c889-4d95-826e-01d5fd05f994">
      <UserInfo>
        <DisplayName/>
        <AccountId xsi:nil="true"/>
        <AccountType/>
      </UserInfo>
    </Student_Groups>
    <Distribution_Groups xmlns="486236ac-c889-4d95-826e-01d5fd05f994" xsi:nil="true"/>
    <Math_Settings xmlns="486236ac-c889-4d95-826e-01d5fd05f994" xsi:nil="true"/>
    <Templates xmlns="486236ac-c889-4d95-826e-01d5fd05f994" xsi:nil="true"/>
    <AppVersion xmlns="486236ac-c889-4d95-826e-01d5fd05f994" xsi:nil="true"/>
    <TeamsChannelId xmlns="486236ac-c889-4d95-826e-01d5fd05f994" xsi:nil="true"/>
    <Invited_Teachers xmlns="486236ac-c889-4d95-826e-01d5fd05f994" xsi:nil="true"/>
    <IsNotebookLocked xmlns="486236ac-c889-4d95-826e-01d5fd05f994" xsi:nil="true"/>
    <Students xmlns="486236ac-c889-4d95-826e-01d5fd05f994">
      <UserInfo>
        <DisplayName/>
        <AccountId xsi:nil="true"/>
        <AccountType/>
      </UserInfo>
    </Students>
    <Has_Teacher_Only_SectionGroup xmlns="486236ac-c889-4d95-826e-01d5fd05f994" xsi:nil="true"/>
    <FolderType xmlns="486236ac-c889-4d95-826e-01d5fd05f994" xsi:nil="true"/>
    <Teachers xmlns="486236ac-c889-4d95-826e-01d5fd05f994">
      <UserInfo>
        <DisplayName/>
        <AccountId xsi:nil="true"/>
        <AccountType/>
      </UserInfo>
    </Teachers>
    <Self_Registration_Enabled xmlns="486236ac-c889-4d95-826e-01d5fd05f994" xsi:nil="true"/>
    <LMS_Mappings xmlns="486236ac-c889-4d95-826e-01d5fd05f994" xsi:nil="true"/>
    <NotebookType xmlns="486236ac-c889-4d95-826e-01d5fd05f994" xsi:nil="true"/>
    <DefaultSectionNames xmlns="486236ac-c889-4d95-826e-01d5fd05f994" xsi:nil="true"/>
    <Is_Collaboration_Space_Locked xmlns="486236ac-c889-4d95-826e-01d5fd05f994" xsi:nil="true"/>
    <Teams_Channel_Section_Location xmlns="486236ac-c889-4d95-826e-01d5fd05f994" xsi:nil="true"/>
    <CultureName xmlns="486236ac-c889-4d95-826e-01d5fd05f994" xsi:nil="true"/>
    <Owner xmlns="486236ac-c889-4d95-826e-01d5fd05f994">
      <UserInfo>
        <DisplayName/>
        <AccountId xsi:nil="true"/>
        <AccountType/>
      </UserInfo>
    </Owner>
    <_activity xmlns="486236ac-c889-4d95-826e-01d5fd05f994" xsi:nil="true"/>
    <Invited_Students xmlns="486236ac-c889-4d95-826e-01d5fd05f994" xsi:nil="true"/>
  </documentManagement>
</p:properties>
</file>

<file path=customXml/itemProps1.xml><?xml version="1.0" encoding="utf-8"?>
<ds:datastoreItem xmlns:ds="http://schemas.openxmlformats.org/officeDocument/2006/customXml" ds:itemID="{13760031-DDB8-4F8C-8BFD-4BA4E9611C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e15542-950a-4a61-905b-0bb11feedd0a"/>
    <ds:schemaRef ds:uri="486236ac-c889-4d95-826e-01d5fd05f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B7CEC4-3A4D-477E-9B10-5E0D4FC79C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D9EED-DED4-4C8D-8DD8-3B3C68605A3A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5ce15542-950a-4a61-905b-0bb11feedd0a"/>
    <ds:schemaRef ds:uri="http://schemas.microsoft.com/office/infopath/2007/PartnerControls"/>
    <ds:schemaRef ds:uri="486236ac-c889-4d95-826e-01d5fd05f994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32</TotalTime>
  <Words>322</Words>
  <Application>Microsoft Office PowerPoint</Application>
  <PresentationFormat>Szélesvásznú</PresentationFormat>
  <Paragraphs>45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Tw Cen MT</vt:lpstr>
      <vt:lpstr>Áramkör</vt:lpstr>
      <vt:lpstr>IPv4 alapok</vt:lpstr>
      <vt:lpstr>Fontosabb fogalmak</vt:lpstr>
      <vt:lpstr>Internet Protokoll v4</vt:lpstr>
      <vt:lpstr>Hálózati maszk</vt:lpstr>
      <vt:lpstr>Default gateway (alapértelmezett átjáró)</vt:lpstr>
      <vt:lpstr>Routerek (irányítók)</vt:lpstr>
      <vt:lpstr>Switchek (kapcsolók)</vt:lpstr>
      <vt:lpstr>OSI vs TCp/IP modell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Kender Szabolcs</dc:creator>
  <cp:lastModifiedBy>Kender Szabolcs Viktor</cp:lastModifiedBy>
  <cp:revision>2</cp:revision>
  <dcterms:created xsi:type="dcterms:W3CDTF">2025-09-01T22:36:33Z</dcterms:created>
  <dcterms:modified xsi:type="dcterms:W3CDTF">2025-09-01T23:09:23Z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0x0101004789F0EC2FE68C418F4DD25FFF4C8CDB</vt:lpwstr>
  </property>
</Properties>
</file>