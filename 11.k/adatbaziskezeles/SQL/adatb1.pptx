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50547F-78C7-496C-ADE3-D574D5B5D603}">
  <a:tblStyle styleId="{5350547F-78C7-496C-ADE3-D574D5B5D60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hu-HU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 strike="noStrike">
                <a:latin typeface="Arial"/>
                <a:ea typeface="Arial"/>
                <a:cs typeface="Arial"/>
                <a:sym typeface="Arial"/>
              </a:rPr>
              <a:t>Ugye 9. ben meismerhettétek a szakma alapjait ezek voltak ugye a webszerkesztés HTML CCS csipetnyi javascriptel és a reszpozivitás elvét booatreppel továbbá volt még programozás alapjai python nyelven ahol az alapvető algoritmikus gondolkozást és az alap programozáési tételekt tanulhattátok meg és legutolso sorba voltak a hálozatok ahol vlanbok és ip cimzés rejtelmeibe mentetek bele 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 strike="noStrike">
                <a:latin typeface="Arial"/>
                <a:ea typeface="Arial"/>
                <a:cs typeface="Arial"/>
                <a:sym typeface="Arial"/>
              </a:rPr>
              <a:t>Kezdjuk ugye az adattárolással hogy ha vissza gondolunk a legegyzerübb programjaira akkor az adatokat változokba tároltuk ezeknek az élettarztlama a program futására korlátozodott miután végbe ment a program az adarok elvesztek ezekhez képest nagy elöre lépést jelnetett az amikor az adatainakt kitudtuk menteni reg fáljba  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 strike="noStrike">
                <a:latin typeface="Arial"/>
                <a:ea typeface="Arial"/>
                <a:cs typeface="Arial"/>
                <a:sym typeface="Arial"/>
              </a:rPr>
              <a:t>Az adatbázisok többek között ezekre a problémákat oldják meg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 strike="noStrike">
                <a:latin typeface="Arial"/>
                <a:ea typeface="Arial"/>
                <a:cs typeface="Arial"/>
                <a:sym typeface="Arial"/>
              </a:rPr>
              <a:t>Adatbázisok nagy mennyiségu adatok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 strike="noStrike">
                <a:latin typeface="Arial"/>
                <a:ea typeface="Arial"/>
                <a:cs typeface="Arial"/>
                <a:sym typeface="Arial"/>
              </a:rPr>
              <a:t>Több felhasználó is kezelheti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 strike="noStrike">
                <a:latin typeface="Arial"/>
                <a:ea typeface="Arial"/>
                <a:cs typeface="Arial"/>
                <a:sym typeface="Arial"/>
              </a:rPr>
              <a:t>Adattbiztonság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 strike="noStrike">
                <a:latin typeface="Arial"/>
                <a:ea typeface="Arial"/>
                <a:cs typeface="Arial"/>
                <a:sym typeface="Arial"/>
              </a:rPr>
              <a:t>Az IT világába mindenhol jelen van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 strike="noStrike">
                <a:latin typeface="Arial"/>
                <a:ea typeface="Arial"/>
                <a:cs typeface="Arial"/>
                <a:sym typeface="Arial"/>
              </a:rPr>
              <a:t>Amikor honlapot használunk ott is használjuk 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 strike="noStrike">
                <a:latin typeface="Arial"/>
                <a:ea typeface="Arial"/>
                <a:cs typeface="Arial"/>
                <a:sym typeface="Arial"/>
              </a:rPr>
              <a:t>Amikor megadjuk az url-t akkoor szerver felé megyünk és a szerver vidza küldi a html skeletont vagyis a frontendet amit a webes aplikácionk bagyis aböngészünk megjelenit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000" strike="noStrike">
                <a:latin typeface="Arial"/>
                <a:ea typeface="Arial"/>
                <a:cs typeface="Arial"/>
                <a:sym typeface="Arial"/>
              </a:rPr>
              <a:t>A weblap mögött backend van tivábbá adatbáziosk is vannak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latin typeface="Arial"/>
                <a:ea typeface="Arial"/>
                <a:cs typeface="Arial"/>
                <a:sym typeface="Arial"/>
              </a:rPr>
              <a:t>2. Konvertálás Relációs Adatbázissá (Táblákká)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A konvertálás lépései egyszerűek és követik a szabványos ER-to-Relational szabályokat: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100" strike="noStrike">
                <a:latin typeface="Arial"/>
                <a:ea typeface="Arial"/>
                <a:cs typeface="Arial"/>
                <a:sym typeface="Arial"/>
              </a:rPr>
              <a:t>1. Lépés: Egyedhalmazok átalakítása külön táblákká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Minden téglalapból egy-egy külön tábla lesz, saját primér kulccsal (azonosítóval):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Orvosok tábla: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Orvos_ID (Elsődleges kulcs / PK)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Név, stb.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Betegek tábla: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Beteg_ID (Elsődleges kulcs / PK)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Név, stb.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Betegségek tábla: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Betegseg_ID (Elsődleges kulcs / PK)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Megnevezés, stb.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100" strike="noStrike">
                <a:latin typeface="Arial"/>
                <a:ea typeface="Arial"/>
                <a:cs typeface="Arial"/>
                <a:sym typeface="Arial"/>
              </a:rPr>
              <a:t>2. Lépés: A 3-as kapcsolat (kezel) átalakítása táblává</a:t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A rombuszból egy kapcsolattábla jön létre.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Idegen kulcsok (FK): A kapcsolattáblába belekerül mindhárom kapcsolódó egyed elsődleges kulcsa: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Orvos_ID (FK $\rightarrow$ Orvosok)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Beteg_ID (FK $\rightarrow$ Betegek)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Betegseg_ID (FK $\rightarrow$ Betegségek)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Mi lesz a kapcsolattábla Elsődleges Kulcsa (PK)?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Az elsődleges kulcsot a nyilak (függőségek) határozzák meg.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Mivel bármelyik két elem egyértelműen meghatározza a harmadikat, így bármelyik 2 kulcs-összetétel jó elsődleges kulcsnak!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Például választhatjuk ezt a kulcsot: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$$\text{PK} = (\text{Orvos\_ID}, \text{Beteg\_ID})$$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(Mivel egy Orvos–Beteg párhoz a nyíl miatt csak egyetlen Betegség tartozhat, ez az összetett kulcs garantálja az egyediséget!)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5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6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7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8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9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0:notes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-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39.png"/><Relationship Id="rId5" Type="http://schemas.openxmlformats.org/officeDocument/2006/relationships/hyperlink" Target="mailto:loczy2003@gmail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30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Relationship Id="rId4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/>
        </p:nvSpPr>
        <p:spPr>
          <a:xfrm>
            <a:off x="360000" y="1550520"/>
            <a:ext cx="9071640" cy="12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hu-HU" sz="5400" u="none" cap="none" strike="noStrike">
                <a:solidFill>
                  <a:srgbClr val="355269"/>
                </a:solidFill>
                <a:latin typeface="Arial"/>
                <a:ea typeface="Arial"/>
                <a:cs typeface="Arial"/>
                <a:sym typeface="Arial"/>
              </a:rPr>
              <a:t>Adatbázis-kezelés I.</a:t>
            </a:r>
            <a:br>
              <a:rPr b="0" i="0" lang="hu-HU" sz="1800" u="none" cap="none" strike="noStrike"/>
            </a:br>
            <a:r>
              <a:rPr b="0" i="0" lang="hu-HU" sz="3600" u="none" cap="none" strike="noStrike">
                <a:solidFill>
                  <a:srgbClr val="355269"/>
                </a:solidFill>
                <a:latin typeface="Arial"/>
                <a:ea typeface="Arial"/>
                <a:cs typeface="Arial"/>
                <a:sym typeface="Arial"/>
              </a:rPr>
              <a:t>elmélete és gyakorlata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0" y="0"/>
            <a:ext cx="10080000" cy="1260000"/>
          </a:xfrm>
          <a:prstGeom prst="rect">
            <a:avLst/>
          </a:prstGeom>
          <a:gradFill>
            <a:gsLst>
              <a:gs pos="0">
                <a:srgbClr val="81D41A"/>
              </a:gs>
              <a:gs pos="100000">
                <a:srgbClr val="2A6099"/>
              </a:gs>
            </a:gsLst>
            <a:lin ang="10980000" scaled="0"/>
          </a:gradFill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0000" y="0"/>
            <a:ext cx="970200" cy="12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1760" y="-221760"/>
            <a:ext cx="1661760" cy="16617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1980000" y="0"/>
            <a:ext cx="6480000" cy="126108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hu-HU" sz="2100" u="none" cap="none" strike="noStrike">
                <a:solidFill>
                  <a:srgbClr val="FFFF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Budapesti Műszaki Szakképzési Centrum Than Károly Technikum és Szakképző Iskola Wesselényi Miklós Telephelye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3600000" y="3240000"/>
            <a:ext cx="2340000" cy="72000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hu-HU" sz="3200" u="none" cap="none" strike="noStrike"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2684148" y="4220650"/>
            <a:ext cx="50349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hu-HU" sz="2600" u="none" cap="none" strike="noStrike">
                <a:latin typeface="Arial"/>
                <a:ea typeface="Arial"/>
                <a:cs typeface="Arial"/>
                <a:sym typeface="Arial"/>
              </a:rPr>
              <a:t>Előadó: Lóczy Levente</a:t>
            </a:r>
            <a:r>
              <a:rPr lang="hu-HU" sz="2600"/>
              <a:t> </a:t>
            </a:r>
            <a:r>
              <a:rPr b="0" i="0" lang="hu-HU" sz="2600" u="none" cap="none" strike="noStrike">
                <a:latin typeface="Arial"/>
                <a:ea typeface="Arial"/>
                <a:cs typeface="Arial"/>
                <a:sym typeface="Arial"/>
              </a:rPr>
              <a:t>Attila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0000" y="4543920"/>
            <a:ext cx="797400" cy="1036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320000"/>
            <a:ext cx="1440000" cy="1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933516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3263748" y="360000"/>
            <a:ext cx="39408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4000" strike="noStrike">
                <a:latin typeface="Arial"/>
                <a:ea typeface="Arial"/>
                <a:cs typeface="Arial"/>
                <a:sym typeface="Arial"/>
              </a:rPr>
              <a:t>Bemutatkozás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000" y="990360"/>
            <a:ext cx="1739520" cy="260964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/>
          <p:nvPr/>
        </p:nvSpPr>
        <p:spPr>
          <a:xfrm>
            <a:off x="358560" y="720000"/>
            <a:ext cx="2160720" cy="4500000"/>
          </a:xfrm>
          <a:custGeom>
            <a:rect b="b" l="l" r="r" t="t"/>
            <a:pathLst>
              <a:path extrusionOk="0" h="12502" w="6007">
                <a:moveTo>
                  <a:pt x="1000" y="0"/>
                </a:moveTo>
                <a:cubicBezTo>
                  <a:pt x="500" y="0"/>
                  <a:pt x="0" y="500"/>
                  <a:pt x="0" y="1000"/>
                </a:cubicBezTo>
                <a:lnTo>
                  <a:pt x="4" y="11500"/>
                </a:lnTo>
                <a:cubicBezTo>
                  <a:pt x="4" y="12000"/>
                  <a:pt x="504" y="12501"/>
                  <a:pt x="1004" y="12501"/>
                </a:cubicBezTo>
                <a:lnTo>
                  <a:pt x="5006" y="12501"/>
                </a:lnTo>
                <a:cubicBezTo>
                  <a:pt x="5506" y="12501"/>
                  <a:pt x="6006" y="12000"/>
                  <a:pt x="6006" y="11500"/>
                </a:cubicBezTo>
                <a:lnTo>
                  <a:pt x="6002" y="1000"/>
                </a:lnTo>
                <a:cubicBezTo>
                  <a:pt x="6002" y="500"/>
                  <a:pt x="5502" y="0"/>
                  <a:pt x="5002" y="0"/>
                </a:cubicBezTo>
                <a:lnTo>
                  <a:pt x="1000" y="0"/>
                </a:lnTo>
              </a:path>
            </a:pathLst>
          </a:custGeom>
          <a:noFill/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522360" y="3717720"/>
            <a:ext cx="1886040" cy="513720"/>
          </a:xfrm>
          <a:prstGeom prst="rect">
            <a:avLst/>
          </a:prstGeom>
          <a:noFill/>
          <a:ln>
            <a:noFill/>
          </a:ln>
        </p:spPr>
        <p:txBody>
          <a:bodyPr anchorCtr="1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500" strike="noStrike">
                <a:latin typeface="Arial"/>
                <a:ea typeface="Arial"/>
                <a:cs typeface="Arial"/>
                <a:sym typeface="Arial"/>
              </a:rPr>
              <a:t>Lóczy Levente Attila</a:t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2700000" y="1260000"/>
            <a:ext cx="6658560" cy="3780000"/>
          </a:xfrm>
          <a:custGeom>
            <a:rect b="b" l="l" r="r" t="t"/>
            <a:pathLst>
              <a:path extrusionOk="0" h="10502" w="18502">
                <a:moveTo>
                  <a:pt x="1750" y="0"/>
                </a:moveTo>
                <a:cubicBezTo>
                  <a:pt x="875" y="0"/>
                  <a:pt x="0" y="875"/>
                  <a:pt x="1" y="1750"/>
                </a:cubicBezTo>
                <a:lnTo>
                  <a:pt x="3" y="8750"/>
                </a:lnTo>
                <a:cubicBezTo>
                  <a:pt x="4" y="9625"/>
                  <a:pt x="879" y="10501"/>
                  <a:pt x="1754" y="10501"/>
                </a:cubicBezTo>
                <a:lnTo>
                  <a:pt x="16750" y="10501"/>
                </a:lnTo>
                <a:cubicBezTo>
                  <a:pt x="17625" y="10501"/>
                  <a:pt x="18501" y="9625"/>
                  <a:pt x="18500" y="8750"/>
                </a:cubicBezTo>
                <a:lnTo>
                  <a:pt x="18498" y="1750"/>
                </a:lnTo>
                <a:cubicBezTo>
                  <a:pt x="18497" y="875"/>
                  <a:pt x="17621" y="0"/>
                  <a:pt x="16746" y="0"/>
                </a:cubicBezTo>
                <a:lnTo>
                  <a:pt x="1750" y="0"/>
                </a:lnTo>
              </a:path>
            </a:pathLst>
          </a:custGeom>
          <a:noFill/>
          <a:ln cap="flat" cmpd="sng" w="9525">
            <a:solidFill>
              <a:srgbClr val="346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2982600" y="1526760"/>
            <a:ext cx="6197400" cy="2973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lang="hu-HU" sz="2000" strike="noStrike">
                <a:latin typeface="Arial"/>
                <a:ea typeface="Arial"/>
                <a:cs typeface="Arial"/>
                <a:sym typeface="Arial"/>
              </a:rPr>
              <a:t>Email: </a:t>
            </a:r>
            <a:r>
              <a:rPr b="0" lang="hu-HU" sz="20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loczy2003@gmail.com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1191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</a:pPr>
            <a:r>
              <a:rPr b="0" lang="hu-HU" sz="2000" strike="noStrike">
                <a:latin typeface="Arial"/>
                <a:ea typeface="Arial"/>
                <a:cs typeface="Arial"/>
                <a:sym typeface="Arial"/>
              </a:rPr>
              <a:t>Lóczy Levente Attila a Budapesti Műszaki és Gazdaságtudományi Egyetem Villamosmérnöki és Informatikai Karának üzemmérnök-informatikus alapszakos hallgatója.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992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929916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1856874" y="180000"/>
            <a:ext cx="76860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3200" strike="noStrike">
                <a:latin typeface="Arial"/>
                <a:ea typeface="Arial"/>
                <a:cs typeface="Arial"/>
                <a:sym typeface="Arial"/>
              </a:rPr>
              <a:t>Mi az Adatbázis-kezelés óra célja?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180000" y="852120"/>
            <a:ext cx="8508240" cy="526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lang="hu-HU" sz="2800" strike="noStrike">
                <a:solidFill>
                  <a:srgbClr val="2A6099"/>
                </a:solidFill>
                <a:latin typeface="Arial"/>
                <a:ea typeface="Arial"/>
                <a:cs typeface="Arial"/>
                <a:sym typeface="Arial"/>
              </a:rPr>
              <a:t>Elmélet ~ 20%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Ami elhangzik a mai órán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Adatbázisok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Adatkezelési Anomáliák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A Relációs Adatmodell Alapjai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ER-Modell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17028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None/>
            </a:pPr>
            <a:r>
              <a:t/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lang="hu-HU" sz="2800" strike="noStrike">
                <a:solidFill>
                  <a:srgbClr val="2A6099"/>
                </a:solidFill>
                <a:latin typeface="Arial"/>
                <a:ea typeface="Arial"/>
                <a:cs typeface="Arial"/>
                <a:sym typeface="Arial"/>
              </a:rPr>
              <a:t>Gyakorlat ~ 80%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SQL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PHPmyadmin felület használata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Adatbázisok létrehozása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Adatok kezelése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Lekérdezések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Adatbázisok mentése és helyreállítása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SQLlite pythonos vegyitése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"/>
              <a:buFont typeface="Noto Sans Symbols"/>
              <a:buChar char="●"/>
            </a:pP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Érettségi típusus feladatok megoldása</a:t>
            </a:r>
            <a:br>
              <a:rPr lang="hu-HU" sz="1800"/>
            </a:br>
            <a:r>
              <a:rPr b="1" lang="hu-HU" sz="1200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7560000" y="5040000"/>
            <a:ext cx="2458800" cy="3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https://freesvg.org/question-mark-person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99400">
            <a:off x="7774560" y="1281960"/>
            <a:ext cx="180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5129280" y="5220000"/>
            <a:ext cx="891072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https://itoldya420.getarchive.net/amp/media/question-mark-question-response-7bbed1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623400">
            <a:off x="5792040" y="2192040"/>
            <a:ext cx="2589120" cy="2589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933516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2340000" y="180000"/>
            <a:ext cx="5088600" cy="5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3200" strike="noStrike">
                <a:latin typeface="Arial"/>
                <a:ea typeface="Arial"/>
                <a:cs typeface="Arial"/>
                <a:sym typeface="Arial"/>
              </a:rPr>
              <a:t>Követelmények, érdemjegy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180000" y="1122120"/>
            <a:ext cx="8508240" cy="454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0965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0"/>
              <a:buFont typeface="Noto Sans Symbols"/>
              <a:buChar char="●"/>
            </a:pPr>
            <a:r>
              <a:rPr b="1" lang="hu-HU" sz="2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Röpdolgozatok</a:t>
            </a:r>
            <a:r>
              <a:rPr b="0" lang="hu-HU" sz="2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Kis terjedelmű számonkérések az órán elhangzott kis mennyiségű elméletből és a súlyozottabb gyakorlati feladatokból.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  <a:p>
            <a:pPr indent="-209650" lvl="0" marL="216000" marR="0" rtl="0" algn="l"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890"/>
              <a:buFont typeface="Noto Sans Symbols"/>
              <a:buChar char="●"/>
            </a:pPr>
            <a:r>
              <a:rPr b="1" lang="hu-HU" sz="2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Témazáró dolgozatok</a:t>
            </a:r>
            <a:r>
              <a:rPr b="0" lang="hu-HU" sz="2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1-2 átfogó, súlyozott jeggyel értékelendő számonkérés a tanév során.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  <a:p>
            <a:pPr indent="-209650" lvl="0" marL="216000" marR="0" rtl="0" algn="l"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890"/>
              <a:buFont typeface="Noto Sans Symbols"/>
              <a:buChar char="●"/>
            </a:pPr>
            <a:r>
              <a:rPr b="0" lang="hu-HU" sz="2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végső osztályzatot a röpdolgozatok eredményei, az órai gyakorlati munka, valamint a kiemelt súllyal beszámító témazáró dolgozatok jegyei együttesen határozzák meg.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  <a:p>
            <a:pPr indent="-209650" lvl="0" marL="216000" marR="0" rtl="0" algn="l"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890"/>
              <a:buFont typeface="Noto Sans Symbols"/>
              <a:buChar char="●"/>
            </a:pPr>
            <a:r>
              <a:rPr b="0" lang="hu-HU" sz="21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Szorgalmi ötös gyűjthető a kiadott sulipyos SQL-es feladatokból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  <a:p>
            <a:pPr indent="-209650" lvl="0" marL="216000" marR="0" rtl="0" algn="l"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890"/>
              <a:buFont typeface="Noto Sans Symbols"/>
              <a:buChar char="●"/>
            </a:pPr>
            <a:r>
              <a:rPr b="0" lang="hu-HU" sz="2100" u="sng" strike="noStrike">
                <a:solidFill>
                  <a:srgbClr val="2A6099"/>
                </a:solidFill>
                <a:latin typeface="Arial"/>
                <a:ea typeface="Arial"/>
                <a:cs typeface="Arial"/>
                <a:sym typeface="Arial"/>
              </a:rPr>
              <a:t>https://sql.sulipy.hu/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468360" y="370080"/>
            <a:ext cx="9071640" cy="124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3600" strike="noStrike">
                <a:latin typeface="Arial"/>
                <a:ea typeface="Arial"/>
                <a:cs typeface="Arial"/>
                <a:sym typeface="Arial"/>
              </a:rPr>
              <a:t>Képzési és Kimeneti Követelmények (KKK), Programtantervek (PTT)</a:t>
            </a:r>
            <a:br>
              <a:rPr lang="hu-HU" sz="1800"/>
            </a:br>
            <a:endParaRPr b="0" sz="3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933516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0000" y="4860000"/>
            <a:ext cx="1620000" cy="460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3000">
            <a:off x="718920" y="2454840"/>
            <a:ext cx="8820000" cy="16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720000" y="1800000"/>
            <a:ext cx="522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1" lang="hu-HU" sz="1800" u="sng" strike="noStrike">
                <a:solidFill>
                  <a:srgbClr val="2A6099"/>
                </a:solidFill>
                <a:latin typeface="Arial"/>
                <a:ea typeface="Arial"/>
                <a:cs typeface="Arial"/>
                <a:sym typeface="Arial"/>
              </a:rPr>
              <a:t>https://akkreditaltvizsgaztatas.ikk.hu/kkk-ptt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/>
        </p:nvSpPr>
        <p:spPr>
          <a:xfrm>
            <a:off x="468360" y="1800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4200" strike="noStrike">
                <a:latin typeface="Arial"/>
                <a:ea typeface="Arial"/>
                <a:cs typeface="Arial"/>
                <a:sym typeface="Arial"/>
              </a:rPr>
              <a:t>Mi az az adatbázis?</a:t>
            </a:r>
            <a:endParaRPr b="0" sz="4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933516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0" y="1800000"/>
            <a:ext cx="5760000" cy="4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986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"/>
              <a:buFont typeface="Noto Sans Symbols"/>
              <a:buChar char="●"/>
            </a:pPr>
            <a:r>
              <a:rPr b="1" lang="hu-HU" sz="2000" strike="noStrike">
                <a:latin typeface="Arial"/>
                <a:ea typeface="Arial"/>
                <a:cs typeface="Arial"/>
                <a:sym typeface="Arial"/>
              </a:rPr>
              <a:t>Strukturált, összefüggő adatok rendszerezett gyűjteménye.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98600" lvl="0" marL="432000" marR="0" rtl="0" algn="l"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680"/>
              <a:buFont typeface="Noto Sans Symbols"/>
              <a:buChar char="●"/>
            </a:pPr>
            <a:r>
              <a:rPr b="0" lang="hu-HU" sz="2000" strike="noStrike">
                <a:latin typeface="Arial"/>
                <a:ea typeface="Arial"/>
                <a:cs typeface="Arial"/>
                <a:sym typeface="Arial"/>
              </a:rPr>
              <a:t>Célja a gyors visszakereshetőség, biztonság és adatintegritás.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98600" lvl="0" marL="432000" marR="0" rtl="0" algn="l"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680"/>
              <a:buFont typeface="Noto Sans Symbols"/>
              <a:buChar char="●"/>
            </a:pPr>
            <a:r>
              <a:rPr b="0" lang="hu-HU" sz="2000" strike="noStrike">
                <a:latin typeface="Arial"/>
                <a:ea typeface="Arial"/>
                <a:cs typeface="Arial"/>
                <a:sym typeface="Arial"/>
              </a:rPr>
              <a:t>Miért nem elég a táblázatkezelő (pl. Excel)?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298600" lvl="0" marL="432000" marR="0" rtl="0" algn="l"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680"/>
              <a:buFont typeface="Noto Sans Symbols"/>
              <a:buChar char="●"/>
            </a:pPr>
            <a:r>
              <a:rPr b="1" lang="hu-HU" sz="2000" strike="noStrike">
                <a:latin typeface="Arial"/>
                <a:ea typeface="Arial"/>
                <a:cs typeface="Arial"/>
                <a:sym typeface="Arial"/>
              </a:rPr>
              <a:t>Redundancia</a:t>
            </a:r>
            <a:r>
              <a:rPr b="0" lang="hu-HU" sz="2000" strike="noStrike">
                <a:latin typeface="Arial"/>
                <a:ea typeface="Arial"/>
                <a:cs typeface="Arial"/>
                <a:sym typeface="Arial"/>
              </a:rPr>
              <a:t>: Ugyanazon adatok fölösleges, többszörös tárolása a rendszerben.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7020000" y="5040000"/>
            <a:ext cx="4500000" cy="3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Forrás:https://dload-oktatas.educatio.hu/erettsegi/feladatok_2026tavasz_emelt/e_digkult_26maj_fl.pdf/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19"/>
          <p:cNvPicPr preferRelativeResize="0"/>
          <p:nvPr/>
        </p:nvPicPr>
        <p:blipFill rotWithShape="1">
          <a:blip r:embed="rId4">
            <a:alphaModFix/>
          </a:blip>
          <a:srcRect b="0" l="17856" r="41070" t="10047"/>
          <a:stretch/>
        </p:blipFill>
        <p:spPr>
          <a:xfrm>
            <a:off x="5541480" y="1980000"/>
            <a:ext cx="4538520" cy="18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/>
        </p:nvSpPr>
        <p:spPr>
          <a:xfrm>
            <a:off x="468360" y="3600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4200" strike="noStrike">
                <a:latin typeface="Arial"/>
                <a:ea typeface="Arial"/>
                <a:cs typeface="Arial"/>
                <a:sym typeface="Arial"/>
              </a:rPr>
              <a:t>Adatkezelési Anomáliák</a:t>
            </a:r>
            <a:endParaRPr b="0" sz="4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180000" y="1440000"/>
            <a:ext cx="7200000" cy="3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6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5"/>
              <a:buFont typeface="Noto Sans Symbols"/>
              <a:buChar char="●"/>
            </a:pPr>
            <a:r>
              <a:rPr b="1" lang="hu-HU" sz="1700" strike="noStrike">
                <a:latin typeface="Arial"/>
                <a:ea typeface="Arial"/>
                <a:cs typeface="Arial"/>
                <a:sym typeface="Arial"/>
              </a:rPr>
              <a:t>Beszúrási (Insertion) </a:t>
            </a:r>
            <a:endParaRPr b="0" sz="1700" strike="noStrike">
              <a:latin typeface="Arial"/>
              <a:ea typeface="Arial"/>
              <a:cs typeface="Arial"/>
              <a:sym typeface="Arial"/>
            </a:endParaRPr>
          </a:p>
          <a:p>
            <a:pPr indent="-298600" lvl="1" marL="864000" marR="0" rtl="0" algn="l">
              <a:spcBef>
                <a:spcPts val="2126"/>
              </a:spcBef>
              <a:spcAft>
                <a:spcPts val="0"/>
              </a:spcAft>
              <a:buClr>
                <a:srgbClr val="000000"/>
              </a:buClr>
              <a:buSzPts val="1175"/>
              <a:buFont typeface="Noto Sans Symbols"/>
              <a:buChar char="−"/>
            </a:pPr>
            <a:r>
              <a:rPr b="0" i="0" lang="hu-HU" sz="1700" u="none" cap="none" strike="noStrike">
                <a:latin typeface="Arial"/>
                <a:ea typeface="Arial"/>
                <a:cs typeface="Arial"/>
                <a:sym typeface="Arial"/>
              </a:rPr>
              <a:t>Nem tudunk új adatot felvenni anélkül, hogy más, még nem létező adatot is meg kellene adnunk.</a:t>
            </a:r>
            <a:endParaRPr b="0" i="0" sz="17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98600" lvl="0" marL="432000" marR="0" rtl="0" algn="l">
              <a:spcBef>
                <a:spcPts val="1191"/>
              </a:spcBef>
              <a:spcAft>
                <a:spcPts val="0"/>
              </a:spcAft>
              <a:buClr>
                <a:srgbClr val="000000"/>
              </a:buClr>
              <a:buSzPts val="545"/>
              <a:buFont typeface="Noto Sans Symbols"/>
              <a:buChar char="●"/>
            </a:pPr>
            <a:r>
              <a:rPr b="1" lang="hu-HU" sz="1700" strike="noStrike">
                <a:latin typeface="Arial"/>
                <a:ea typeface="Arial"/>
                <a:cs typeface="Arial"/>
                <a:sym typeface="Arial"/>
              </a:rPr>
              <a:t>Módosítási (Update)</a:t>
            </a:r>
            <a:endParaRPr b="0" sz="1700" strike="noStrike">
              <a:latin typeface="Arial"/>
              <a:ea typeface="Arial"/>
              <a:cs typeface="Arial"/>
              <a:sym typeface="Arial"/>
            </a:endParaRPr>
          </a:p>
          <a:p>
            <a:pPr indent="-298600" lvl="1" marL="864000" marR="0" rtl="0" algn="l">
              <a:spcBef>
                <a:spcPts val="2126"/>
              </a:spcBef>
              <a:spcAft>
                <a:spcPts val="0"/>
              </a:spcAft>
              <a:buClr>
                <a:srgbClr val="000000"/>
              </a:buClr>
              <a:buSzPts val="1175"/>
              <a:buFont typeface="Noto Sans Symbols"/>
              <a:buChar char="−"/>
            </a:pPr>
            <a:r>
              <a:rPr b="0" i="0" lang="hu-HU" sz="1700" u="none" cap="none" strike="noStrike">
                <a:latin typeface="Arial"/>
                <a:ea typeface="Arial"/>
                <a:cs typeface="Arial"/>
                <a:sym typeface="Arial"/>
              </a:rPr>
              <a:t>Egy adat változásakor azt több helyen kell átírni. Ha egy kimarad, az adatbázis ellentmondásossá válik.</a:t>
            </a:r>
            <a:endParaRPr b="0" i="0" sz="17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98600" lvl="0" marL="432000" marR="0" rtl="0" algn="l">
              <a:spcBef>
                <a:spcPts val="1191"/>
              </a:spcBef>
              <a:spcAft>
                <a:spcPts val="0"/>
              </a:spcAft>
              <a:buClr>
                <a:srgbClr val="000000"/>
              </a:buClr>
              <a:buSzPts val="545"/>
              <a:buFont typeface="Noto Sans Symbols"/>
              <a:buChar char="●"/>
            </a:pPr>
            <a:r>
              <a:rPr b="1" lang="hu-HU" sz="1700" strike="noStrike">
                <a:latin typeface="Arial"/>
                <a:ea typeface="Arial"/>
                <a:cs typeface="Arial"/>
                <a:sym typeface="Arial"/>
              </a:rPr>
              <a:t>Törlési (Deletion)</a:t>
            </a:r>
            <a:endParaRPr b="0" sz="1700" strike="noStrike">
              <a:latin typeface="Arial"/>
              <a:ea typeface="Arial"/>
              <a:cs typeface="Arial"/>
              <a:sym typeface="Arial"/>
            </a:endParaRPr>
          </a:p>
          <a:p>
            <a:pPr indent="-298600" lvl="1" marL="864000" marR="0" rtl="0" algn="l">
              <a:spcBef>
                <a:spcPts val="2126"/>
              </a:spcBef>
              <a:spcAft>
                <a:spcPts val="0"/>
              </a:spcAft>
              <a:buClr>
                <a:srgbClr val="000000"/>
              </a:buClr>
              <a:buSzPts val="1175"/>
              <a:buFont typeface="Noto Sans Symbols"/>
              <a:buChar char="−"/>
            </a:pPr>
            <a:r>
              <a:rPr b="0" i="0" lang="hu-HU" sz="1700" u="none" cap="none" strike="noStrike">
                <a:latin typeface="Arial"/>
                <a:ea typeface="Arial"/>
                <a:cs typeface="Arial"/>
                <a:sym typeface="Arial"/>
              </a:rPr>
              <a:t>Egy rekord törlésével olyan járulékos információk is végleg elvesznek, amelyeket még meg kellett volna őriznünk.</a:t>
            </a:r>
            <a:endParaRPr b="0" i="0" sz="1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933516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0000" y="1835640"/>
            <a:ext cx="2484360" cy="248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6480000" y="5167800"/>
            <a:ext cx="35154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Forrás: https://freesvg.org/blue-database-icon-vector-image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/>
          <p:nvPr/>
        </p:nvSpPr>
        <p:spPr>
          <a:xfrm>
            <a:off x="468360" y="3600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4000" strike="noStrike">
                <a:latin typeface="Arial"/>
                <a:ea typeface="Arial"/>
                <a:cs typeface="Arial"/>
                <a:sym typeface="Arial"/>
              </a:rPr>
              <a:t>A Relációs Adatmodell Alapjai</a:t>
            </a:r>
            <a:br>
              <a:rPr lang="hu-HU" sz="1800"/>
            </a:b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0000" y="1980000"/>
            <a:ext cx="4050000" cy="25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 txBox="1"/>
          <p:nvPr/>
        </p:nvSpPr>
        <p:spPr>
          <a:xfrm>
            <a:off x="0" y="1260000"/>
            <a:ext cx="7200000" cy="3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32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"/>
              <a:buFont typeface="Noto Sans Symbols"/>
              <a:buChar char="●"/>
            </a:pP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Rekord</a:t>
            </a:r>
            <a:r>
              <a:rPr b="0" lang="hu-HU" sz="1600" strike="noStrike">
                <a:latin typeface="Arial"/>
                <a:ea typeface="Arial"/>
                <a:cs typeface="Arial"/>
                <a:sym typeface="Arial"/>
              </a:rPr>
              <a:t> (Sor): Egy konkrét egyed (pl. egyetlen diák) összes adata.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73200" lvl="0" marL="432000" marR="0" rtl="0" algn="l"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280"/>
              <a:buFont typeface="Noto Sans Symbols"/>
              <a:buChar char="●"/>
            </a:pP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Mező</a:t>
            </a:r>
            <a:r>
              <a:rPr b="0" lang="hu-HU" sz="1600" strike="noStrike">
                <a:latin typeface="Arial"/>
                <a:ea typeface="Arial"/>
                <a:cs typeface="Arial"/>
                <a:sym typeface="Arial"/>
              </a:rPr>
              <a:t> (Oszlop): Egy adott tulajdonság (pl. diák születési dátuma).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73200" lvl="0" marL="432000" marR="0" rtl="0" algn="l"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280"/>
              <a:buFont typeface="Noto Sans Symbols"/>
              <a:buChar char="●"/>
            </a:pPr>
            <a:r>
              <a:rPr b="0" lang="hu-HU" sz="1600" strike="noStrike">
                <a:latin typeface="Arial"/>
                <a:ea typeface="Arial"/>
                <a:cs typeface="Arial"/>
                <a:sym typeface="Arial"/>
              </a:rPr>
              <a:t>Elsődleges kulcs </a:t>
            </a: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(Primary Key</a:t>
            </a:r>
            <a:r>
              <a:rPr b="0" lang="hu-HU" sz="1600" strike="noStrike">
                <a:latin typeface="Arial"/>
                <a:ea typeface="Arial"/>
                <a:cs typeface="Arial"/>
                <a:sym typeface="Arial"/>
              </a:rPr>
              <a:t> - PK):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73200" lvl="1" marL="864000" marR="0" rtl="0" algn="l">
              <a:spcBef>
                <a:spcPts val="2126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−"/>
            </a:pPr>
            <a:r>
              <a:rPr b="0" i="0" lang="hu-HU" sz="1600" u="none" cap="none" strike="noStrike">
                <a:latin typeface="Arial"/>
                <a:ea typeface="Arial"/>
                <a:cs typeface="Arial"/>
                <a:sym typeface="Arial"/>
              </a:rPr>
              <a:t>A tábla rekordjainak egyértelmű azonosítója.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732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−"/>
            </a:pPr>
            <a:r>
              <a:rPr b="0" i="0" lang="hu-HU" sz="1600" u="none" cap="none" strike="noStrike">
                <a:latin typeface="Arial"/>
                <a:ea typeface="Arial"/>
                <a:cs typeface="Arial"/>
                <a:sym typeface="Arial"/>
              </a:rPr>
              <a:t>Megkötései: Nem lehet üres (NOT NULL) és nem ismétlődhet (UNIQUE).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73200" lvl="0" marL="432000" marR="0" rtl="0" algn="l">
              <a:spcBef>
                <a:spcPts val="1191"/>
              </a:spcBef>
              <a:spcAft>
                <a:spcPts val="0"/>
              </a:spcAft>
              <a:buClr>
                <a:srgbClr val="000000"/>
              </a:buClr>
              <a:buSzPts val="280"/>
              <a:buFont typeface="Noto Sans Symbols"/>
              <a:buChar char="●"/>
            </a:pPr>
            <a:r>
              <a:rPr b="0" lang="hu-HU" sz="1600" strike="noStrike">
                <a:latin typeface="Arial"/>
                <a:ea typeface="Arial"/>
                <a:cs typeface="Arial"/>
                <a:sym typeface="Arial"/>
              </a:rPr>
              <a:t>Idegen kulcs (</a:t>
            </a:r>
            <a:r>
              <a:rPr b="1" lang="hu-HU" sz="1600" strike="noStrike">
                <a:latin typeface="Arial"/>
                <a:ea typeface="Arial"/>
                <a:cs typeface="Arial"/>
                <a:sym typeface="Arial"/>
              </a:rPr>
              <a:t>Foreign Key</a:t>
            </a:r>
            <a:r>
              <a:rPr b="0" lang="hu-HU" sz="1600" strike="noStrike">
                <a:latin typeface="Arial"/>
                <a:ea typeface="Arial"/>
                <a:cs typeface="Arial"/>
                <a:sym typeface="Arial"/>
              </a:rPr>
              <a:t> - FK):</a:t>
            </a:r>
            <a:endParaRPr b="0" sz="1600" strike="noStrike">
              <a:latin typeface="Arial"/>
              <a:ea typeface="Arial"/>
              <a:cs typeface="Arial"/>
              <a:sym typeface="Arial"/>
            </a:endParaRPr>
          </a:p>
          <a:p>
            <a:pPr indent="-273200" lvl="1" marL="864000" marR="0" rtl="0" algn="l">
              <a:spcBef>
                <a:spcPts val="2126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−"/>
            </a:pPr>
            <a:r>
              <a:rPr b="0" i="0" lang="hu-HU" sz="1600" u="none" cap="none" strike="noStrike">
                <a:latin typeface="Arial"/>
                <a:ea typeface="Arial"/>
                <a:cs typeface="Arial"/>
                <a:sym typeface="Arial"/>
              </a:rPr>
              <a:t>Egy tábla olyan mezője, amely egy másik tábla elsődleges kulcsára mutat (ez teremti meg a kapcsolatot).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732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Symbols"/>
              <a:buChar char="−"/>
            </a:pPr>
            <a:r>
              <a:rPr b="0" i="0" lang="hu-HU" sz="16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1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933552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7040520" y="5143320"/>
            <a:ext cx="4659480" cy="25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https://marthimonika.wordpress.com/adatbazisok/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/>
        </p:nvSpPr>
        <p:spPr>
          <a:xfrm>
            <a:off x="468360" y="3600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3600" strike="noStrike">
                <a:latin typeface="Arial"/>
                <a:ea typeface="Arial"/>
                <a:cs typeface="Arial"/>
                <a:sym typeface="Arial"/>
              </a:rPr>
              <a:t>Az ER-Modell </a:t>
            </a:r>
            <a:endParaRPr b="0" sz="3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180000" y="1620000"/>
            <a:ext cx="9360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75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"/>
              <a:buFont typeface="Noto Sans Symbols"/>
              <a:buChar char="●"/>
            </a:pPr>
            <a:r>
              <a:rPr b="0" lang="hu-HU" sz="2100" strike="noStrike">
                <a:latin typeface="Arial"/>
                <a:ea typeface="Arial"/>
                <a:cs typeface="Arial"/>
                <a:sym typeface="Arial"/>
              </a:rPr>
              <a:t>ER-modell szerepe: Az adatbázis vizuális megtervezése a kódolás előtt.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  <a:p>
            <a:pPr indent="-228750" lvl="0" marL="432000" marR="0" rtl="0" algn="l"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120"/>
              <a:buFont typeface="Noto Sans Symbols"/>
              <a:buChar char="●"/>
            </a:pPr>
            <a:r>
              <a:rPr b="1" lang="hu-HU" sz="2100" strike="noStrike">
                <a:latin typeface="Arial"/>
                <a:ea typeface="Arial"/>
                <a:cs typeface="Arial"/>
                <a:sym typeface="Arial"/>
              </a:rPr>
              <a:t>Fő elemei és jelölései:</a:t>
            </a:r>
            <a:endParaRPr b="0" sz="2100" strike="noStrike">
              <a:latin typeface="Arial"/>
              <a:ea typeface="Arial"/>
              <a:cs typeface="Arial"/>
              <a:sym typeface="Arial"/>
            </a:endParaRPr>
          </a:p>
          <a:p>
            <a:pPr indent="-228750" lvl="1" marL="864000" marR="0" rtl="0" algn="l">
              <a:spcBef>
                <a:spcPts val="2126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</a:pPr>
            <a:r>
              <a:rPr b="1" i="0" lang="hu-HU" sz="2100" u="none" cap="none" strike="noStrike">
                <a:solidFill>
                  <a:srgbClr val="2A6099"/>
                </a:solidFill>
                <a:latin typeface="Arial"/>
                <a:ea typeface="Arial"/>
                <a:cs typeface="Arial"/>
                <a:sym typeface="Arial"/>
              </a:rPr>
              <a:t>Egyed</a:t>
            </a:r>
            <a:r>
              <a:rPr b="0" i="0" lang="hu-HU" sz="2100" u="none" cap="none" strike="noStrike">
                <a:latin typeface="Arial"/>
                <a:ea typeface="Arial"/>
                <a:cs typeface="Arial"/>
                <a:sym typeface="Arial"/>
              </a:rPr>
              <a:t> : A valós világ dolgai, amiről adatot tárolunk  </a:t>
            </a:r>
            <a:r>
              <a:rPr b="1" i="0" lang="hu-HU" sz="2100" u="none" cap="none" strike="noStrike">
                <a:latin typeface="Arial"/>
                <a:ea typeface="Arial"/>
                <a:cs typeface="Arial"/>
                <a:sym typeface="Arial"/>
              </a:rPr>
              <a:t>Téglalap</a:t>
            </a:r>
            <a:r>
              <a:rPr b="0" i="0" lang="hu-HU" sz="2100" u="none" cap="none" strike="noStrike">
                <a:latin typeface="Arial"/>
                <a:ea typeface="Arial"/>
                <a:cs typeface="Arial"/>
                <a:sym typeface="Arial"/>
              </a:rPr>
              <a:t> (pl. könyv).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75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</a:pPr>
            <a:r>
              <a:rPr b="1" i="0" lang="hu-HU" sz="2100" u="none" cap="none" strike="noStrike">
                <a:solidFill>
                  <a:srgbClr val="2A6099"/>
                </a:solidFill>
                <a:latin typeface="Arial"/>
                <a:ea typeface="Arial"/>
                <a:cs typeface="Arial"/>
                <a:sym typeface="Arial"/>
              </a:rPr>
              <a:t>Tulajdonság</a:t>
            </a:r>
            <a:r>
              <a:rPr b="0" i="0" lang="hu-HU" sz="2100" u="none" cap="none" strike="noStrike">
                <a:latin typeface="Arial"/>
                <a:ea typeface="Arial"/>
                <a:cs typeface="Arial"/>
                <a:sym typeface="Arial"/>
              </a:rPr>
              <a:t> : Az egyed jellemzői </a:t>
            </a:r>
            <a:r>
              <a:rPr b="1" i="0" lang="hu-HU" sz="2100" u="none" cap="none" strike="noStrike">
                <a:latin typeface="Arial"/>
                <a:ea typeface="Arial"/>
                <a:cs typeface="Arial"/>
                <a:sym typeface="Arial"/>
              </a:rPr>
              <a:t>Ellipszis</a:t>
            </a:r>
            <a:r>
              <a:rPr b="0" i="0" lang="hu-HU" sz="2100" u="none" cap="none" strike="noStrike">
                <a:latin typeface="Arial"/>
                <a:ea typeface="Arial"/>
                <a:cs typeface="Arial"/>
                <a:sym typeface="Arial"/>
              </a:rPr>
              <a:t> (pl. cim, szerző).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75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−"/>
            </a:pPr>
            <a:r>
              <a:rPr b="1" i="0" lang="hu-HU" sz="2100" u="none" cap="none" strike="noStrike">
                <a:solidFill>
                  <a:srgbClr val="2A6099"/>
                </a:solidFill>
                <a:latin typeface="Arial"/>
                <a:ea typeface="Arial"/>
                <a:cs typeface="Arial"/>
                <a:sym typeface="Arial"/>
              </a:rPr>
              <a:t>Kapcsolat</a:t>
            </a:r>
            <a:r>
              <a:rPr b="0" i="0" lang="hu-HU" sz="2100" u="none" cap="none" strike="noStrike">
                <a:latin typeface="Arial"/>
                <a:ea typeface="Arial"/>
                <a:cs typeface="Arial"/>
                <a:sym typeface="Arial"/>
              </a:rPr>
              <a:t> : Az egyedek közötti viszony </a:t>
            </a:r>
            <a:r>
              <a:rPr b="1" i="0" lang="hu-HU" sz="2100" u="none" cap="none" strike="noStrike">
                <a:latin typeface="Arial"/>
                <a:ea typeface="Arial"/>
                <a:cs typeface="Arial"/>
                <a:sym typeface="Arial"/>
              </a:rPr>
              <a:t>Rombusz</a:t>
            </a:r>
            <a:r>
              <a:rPr b="0" i="0" lang="hu-HU" sz="2100" u="none" cap="none" strike="noStrike">
                <a:latin typeface="Arial"/>
                <a:ea typeface="Arial"/>
                <a:cs typeface="Arial"/>
                <a:sym typeface="Arial"/>
              </a:rPr>
              <a:t> (pl. kölcsönzés).</a:t>
            </a:r>
            <a:endParaRPr b="0" i="0" sz="21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01775" lvl="0" marL="432000" marR="0" rtl="0" algn="l">
              <a:spcBef>
                <a:spcPts val="1191"/>
              </a:spcBef>
              <a:spcAft>
                <a:spcPts val="0"/>
              </a:spcAft>
              <a:buClr>
                <a:srgbClr val="000000"/>
              </a:buClr>
              <a:buSzPts val="100"/>
              <a:buFont typeface="Noto Sans Symbols"/>
              <a:buChar char="●"/>
            </a:pPr>
            <a:r>
              <a:rPr b="0" lang="hu-HU" sz="100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sz="1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933552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/>
        </p:nvSpPr>
        <p:spPr>
          <a:xfrm>
            <a:off x="468360" y="3600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3600" strike="noStrike">
                <a:latin typeface="Arial"/>
                <a:ea typeface="Arial"/>
                <a:cs typeface="Arial"/>
                <a:sym typeface="Arial"/>
              </a:rPr>
              <a:t>Az ER-Modell </a:t>
            </a:r>
            <a:endParaRPr b="0" sz="3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180000" y="1260000"/>
            <a:ext cx="9360000" cy="3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lang="hu-HU" sz="2800" strike="noStrike">
                <a:latin typeface="Arial"/>
                <a:ea typeface="Arial"/>
                <a:cs typeface="Arial"/>
                <a:sym typeface="Arial"/>
              </a:rPr>
              <a:t>Az ER-diagramokban a nyilak (és egyenes vonalak) azt mutatják meg, hogy az egyes elemek között milyen a függőség és a darabszám (kardinális viszony).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lang="hu-HU" sz="2800" strike="noStrike">
                <a:solidFill>
                  <a:srgbClr val="2A6099"/>
                </a:solidFill>
                <a:latin typeface="Arial"/>
                <a:ea typeface="Arial"/>
                <a:cs typeface="Arial"/>
                <a:sym typeface="Arial"/>
              </a:rPr>
              <a:t>Sima vonal</a:t>
            </a:r>
            <a:r>
              <a:rPr b="0" lang="hu-HU" sz="2800" strike="noStrike">
                <a:latin typeface="Arial"/>
                <a:ea typeface="Arial"/>
                <a:cs typeface="Arial"/>
                <a:sym typeface="Arial"/>
              </a:rPr>
              <a:t> (Nyíl nélkül): </a:t>
            </a:r>
            <a:r>
              <a:rPr b="1" lang="hu-HU" sz="2800" strike="noStrike">
                <a:latin typeface="Arial"/>
                <a:ea typeface="Arial"/>
                <a:cs typeface="Arial"/>
                <a:sym typeface="Arial"/>
              </a:rPr>
              <a:t>TÖBB</a:t>
            </a:r>
            <a:r>
              <a:rPr b="0" lang="hu-HU" sz="2800" strike="noStrike">
                <a:latin typeface="Arial"/>
                <a:ea typeface="Arial"/>
                <a:cs typeface="Arial"/>
                <a:sym typeface="Arial"/>
              </a:rPr>
              <a:t> elem tartozhat hozzá.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lang="hu-HU" sz="2800" strike="noStrike">
                <a:solidFill>
                  <a:srgbClr val="2A6099"/>
                </a:solidFill>
                <a:latin typeface="Arial"/>
                <a:ea typeface="Arial"/>
                <a:cs typeface="Arial"/>
                <a:sym typeface="Arial"/>
              </a:rPr>
              <a:t>Nyíl</a:t>
            </a:r>
            <a:r>
              <a:rPr b="0" lang="hu-HU" sz="2800" strike="noStrike">
                <a:latin typeface="Arial"/>
                <a:ea typeface="Arial"/>
                <a:cs typeface="Arial"/>
                <a:sym typeface="Arial"/>
              </a:rPr>
              <a:t> (--&gt;): </a:t>
            </a:r>
            <a:r>
              <a:rPr b="1" lang="hu-HU" sz="2800" strike="noStrike">
                <a:latin typeface="Arial"/>
                <a:ea typeface="Arial"/>
                <a:cs typeface="Arial"/>
                <a:sym typeface="Arial"/>
              </a:rPr>
              <a:t>PONTOSAN EGY</a:t>
            </a:r>
            <a:r>
              <a:rPr b="0" lang="hu-HU" sz="2800" strike="noStrike">
                <a:latin typeface="Arial"/>
                <a:ea typeface="Arial"/>
                <a:cs typeface="Arial"/>
                <a:sym typeface="Arial"/>
              </a:rPr>
              <a:t> (vagy legfeljebb egy) elem tartozhat hozzá. A nyíl hegye mutat arra a dologra, ami egyértelműen meghatározott.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lang="hu-HU" sz="2800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450"/>
              <a:buFont typeface="Noto Sans Symbols"/>
              <a:buChar char="●"/>
            </a:pPr>
            <a:r>
              <a:rPr b="0" lang="hu-HU" sz="1000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b="0" sz="1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933552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4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4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933552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0" name="Google Shape;220;p24"/>
          <p:cNvGraphicFramePr/>
          <p:nvPr/>
        </p:nvGraphicFramePr>
        <p:xfrm>
          <a:off x="674640" y="401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{5350547F-78C7-496C-ADE3-D574D5B5D603}</a:tableStyleId>
              </a:tblPr>
              <a:tblGrid>
                <a:gridCol w="2878925"/>
                <a:gridCol w="2878925"/>
                <a:gridCol w="2882150"/>
              </a:tblGrid>
              <a:tr h="1034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u-HU" sz="3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Rajz két egyed között</a:t>
                      </a:r>
                      <a:endParaRPr b="0" sz="3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u-HU" sz="3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jelentése</a:t>
                      </a:r>
                      <a:endParaRPr b="0" sz="3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hu-HU" sz="32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példa</a:t>
                      </a:r>
                      <a:endParaRPr b="0" sz="3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83B0"/>
                    </a:solidFill>
                  </a:tcPr>
                </a:tc>
              </a:tr>
              <a:tr h="103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hu-HU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Oktató — Tárgy </a:t>
                      </a:r>
                      <a:endParaRPr b="0" sz="18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hu-HU" sz="18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Több-a-többhöz (N:M) vagy csillag (*)</a:t>
                      </a:r>
                      <a:endParaRPr b="0" sz="18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hu-HU" sz="18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Nincs nyíl egyik oldalon sem.</a:t>
                      </a:r>
                      <a:endParaRPr b="0" sz="18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hu-HU" sz="18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Egy oktató több tárgyat taníthat, és egy tárgyat több oktató is tarthat.</a:t>
                      </a:r>
                      <a:endParaRPr b="0" sz="18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</a:tr>
              <a:tr h="103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hu-HU" sz="18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Oktató --&gt; Tárgy</a:t>
                      </a:r>
                      <a:endParaRPr b="0" sz="18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hu-HU" sz="18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Több-az-egyhez (N:1)</a:t>
                      </a:r>
                      <a:endParaRPr b="0" sz="18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hu-HU" sz="18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nyíl a Tárgy felé mutat.</a:t>
                      </a:r>
                      <a:endParaRPr b="0" sz="18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hu-HU" sz="18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Egy oktató legfeljebb 1 tárgyat taníthat, de egy tárgyat több oktató is tarthat.</a:t>
                      </a:r>
                      <a:endParaRPr b="0" sz="18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6EF"/>
                    </a:solidFill>
                  </a:tcPr>
                </a:tc>
              </a:tr>
              <a:tr h="103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hu-HU" sz="18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Oktató &lt;-- Tárgy</a:t>
                      </a:r>
                      <a:endParaRPr b="0" sz="18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hu-HU" sz="18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Egy-a-többhöz (1:N)</a:t>
                      </a:r>
                      <a:endParaRPr b="0" sz="18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hu-HU" sz="18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nyíl az Oktató felé mutat.</a:t>
                      </a:r>
                      <a:endParaRPr b="0" sz="18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8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hu-HU" sz="180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Egy tárgynak csak 1 felelős oktatója lehet, de egy oktató több tárgyért is felelhet.</a:t>
                      </a:r>
                      <a:endParaRPr b="0" sz="18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C7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/>
        </p:nvSpPr>
        <p:spPr>
          <a:xfrm>
            <a:off x="468360" y="3600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360000" y="18000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5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5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5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5"/>
          <p:cNvSpPr txBox="1"/>
          <p:nvPr/>
        </p:nvSpPr>
        <p:spPr>
          <a:xfrm>
            <a:off x="917820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000" y="360000"/>
            <a:ext cx="9360000" cy="44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2520000" y="5161680"/>
            <a:ext cx="4986000" cy="238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50" strike="noStrike">
                <a:latin typeface="Arial"/>
                <a:ea typeface="Arial"/>
                <a:cs typeface="Arial"/>
                <a:sym typeface="Arial"/>
              </a:rPr>
              <a:t>https://tanari.hu/nagyistvan/informatika/adatbazis-kezeles/egyed-kapcsolat-modell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/>
          <p:nvPr/>
        </p:nvSpPr>
        <p:spPr>
          <a:xfrm>
            <a:off x="468360" y="3600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3200" strike="noStrike">
                <a:latin typeface="Arial"/>
                <a:ea typeface="Arial"/>
                <a:cs typeface="Arial"/>
                <a:sym typeface="Arial"/>
              </a:rPr>
              <a:t>ER-Modellből Relációs Adatbázis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6"/>
          <p:cNvSpPr txBox="1"/>
          <p:nvPr/>
        </p:nvSpPr>
        <p:spPr>
          <a:xfrm>
            <a:off x="180000" y="1306440"/>
            <a:ext cx="7920000" cy="3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b="0" lang="hu-HU" sz="2600" strike="noStrike">
                <a:latin typeface="Arial"/>
                <a:ea typeface="Arial"/>
                <a:cs typeface="Arial"/>
                <a:sym typeface="Arial"/>
              </a:rPr>
              <a:t>Minden </a:t>
            </a:r>
            <a:r>
              <a:rPr b="1" lang="hu-HU" sz="2600" strike="noStrike">
                <a:latin typeface="Arial"/>
                <a:ea typeface="Arial"/>
                <a:cs typeface="Arial"/>
                <a:sym typeface="Arial"/>
              </a:rPr>
              <a:t>Egyedből</a:t>
            </a:r>
            <a:r>
              <a:rPr b="0" lang="hu-HU" sz="2600" strike="noStrike">
                <a:latin typeface="Arial"/>
                <a:ea typeface="Arial"/>
                <a:cs typeface="Arial"/>
                <a:sym typeface="Arial"/>
              </a:rPr>
              <a:t> külön </a:t>
            </a:r>
            <a:r>
              <a:rPr b="1" lang="hu-HU" sz="2600" strike="noStrike">
                <a:latin typeface="Arial"/>
                <a:ea typeface="Arial"/>
                <a:cs typeface="Arial"/>
                <a:sym typeface="Arial"/>
              </a:rPr>
              <a:t>Tábla</a:t>
            </a:r>
            <a:r>
              <a:rPr b="0" lang="hu-HU" sz="2600" strike="noStrike">
                <a:latin typeface="Arial"/>
                <a:ea typeface="Arial"/>
                <a:cs typeface="Arial"/>
                <a:sym typeface="Arial"/>
              </a:rPr>
              <a:t> lesz.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2183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Noto Sans Symbols"/>
              <a:buChar char="●"/>
            </a:pPr>
            <a:r>
              <a:rPr b="0" lang="hu-HU" sz="2600" strike="noStrike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hu-HU" sz="2600" strike="noStrike">
                <a:latin typeface="Arial"/>
                <a:ea typeface="Arial"/>
                <a:cs typeface="Arial"/>
                <a:sym typeface="Arial"/>
              </a:rPr>
              <a:t>Tulajdonságokból</a:t>
            </a:r>
            <a:r>
              <a:rPr b="0" lang="hu-HU" sz="26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hu-HU" sz="2600" strike="noStrike">
                <a:latin typeface="Arial"/>
                <a:ea typeface="Arial"/>
                <a:cs typeface="Arial"/>
                <a:sym typeface="Arial"/>
              </a:rPr>
              <a:t>Mezők</a:t>
            </a:r>
            <a:r>
              <a:rPr b="0" lang="hu-HU" sz="2600" strike="noStrike">
                <a:latin typeface="Arial"/>
                <a:ea typeface="Arial"/>
                <a:cs typeface="Arial"/>
                <a:sym typeface="Arial"/>
              </a:rPr>
              <a:t> (Oszlopok) lesznek.</a:t>
            </a:r>
            <a:endParaRPr b="0" sz="26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6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6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6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6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917820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36975" y="2795148"/>
            <a:ext cx="3807025" cy="228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6"/>
          <p:cNvSpPr txBox="1"/>
          <p:nvPr/>
        </p:nvSpPr>
        <p:spPr>
          <a:xfrm>
            <a:off x="7200000" y="5220000"/>
            <a:ext cx="574632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900" strike="noStrike">
                <a:latin typeface="Arial"/>
                <a:ea typeface="Arial"/>
                <a:cs typeface="Arial"/>
                <a:sym typeface="Arial"/>
              </a:rPr>
              <a:t>https://beginnersbook.com/2015/04/e-r-model-in-dbms/</a:t>
            </a:r>
            <a:endParaRPr b="0" sz="9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7"/>
          <p:cNvSpPr txBox="1"/>
          <p:nvPr/>
        </p:nvSpPr>
        <p:spPr>
          <a:xfrm>
            <a:off x="468360" y="3600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3200" strike="noStrike">
                <a:latin typeface="Arial"/>
                <a:ea typeface="Arial"/>
                <a:cs typeface="Arial"/>
                <a:sym typeface="Arial"/>
              </a:rPr>
              <a:t>Gyakorlati példa I.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7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7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7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7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7"/>
          <p:cNvSpPr txBox="1"/>
          <p:nvPr/>
        </p:nvSpPr>
        <p:spPr>
          <a:xfrm>
            <a:off x="917820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180000" y="1306440"/>
            <a:ext cx="6120000" cy="4633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800" strike="noStrike">
                <a:latin typeface="Arial"/>
                <a:ea typeface="Arial"/>
                <a:cs typeface="Arial"/>
                <a:sym typeface="Arial"/>
              </a:rPr>
              <a:t>Egy közösségi oldalon a felhasználókról tároljuk a nevüket és a felhasználónevüket (ami egyértelműen azonosítja őket). Szeretnénk tárolni azt is, hogy melyik felhasználó kit követ.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800" strike="noStrike">
                <a:latin typeface="Arial"/>
                <a:ea typeface="Arial"/>
                <a:cs typeface="Arial"/>
                <a:sym typeface="Arial"/>
              </a:rPr>
              <a:t>feladat: Rajzold meg a feladat ER-diagramját!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7560" y="1620000"/>
            <a:ext cx="3510360" cy="23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7"/>
          <p:cNvSpPr txBox="1"/>
          <p:nvPr/>
        </p:nvSpPr>
        <p:spPr>
          <a:xfrm>
            <a:off x="6480000" y="5161680"/>
            <a:ext cx="3600000" cy="238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1050" strike="noStrike">
                <a:latin typeface="Arial"/>
                <a:ea typeface="Arial"/>
                <a:cs typeface="Arial"/>
                <a:sym typeface="Arial"/>
              </a:rPr>
              <a:t>https://commons.wikimedia.org/wiki/File:Social_media.png</a:t>
            </a:r>
            <a:endParaRPr b="0" sz="105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/>
          <p:nvPr/>
        </p:nvSpPr>
        <p:spPr>
          <a:xfrm>
            <a:off x="468360" y="3600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8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8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8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8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8"/>
          <p:cNvSpPr txBox="1"/>
          <p:nvPr/>
        </p:nvSpPr>
        <p:spPr>
          <a:xfrm>
            <a:off x="917820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000" y="477360"/>
            <a:ext cx="8640000" cy="492264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8"/>
          <p:cNvSpPr txBox="1"/>
          <p:nvPr/>
        </p:nvSpPr>
        <p:spPr>
          <a:xfrm>
            <a:off x="2739240" y="477360"/>
            <a:ext cx="3926880" cy="5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3200" strike="noStrike">
                <a:latin typeface="Arial"/>
                <a:ea typeface="Arial"/>
                <a:cs typeface="Arial"/>
                <a:sym typeface="Arial"/>
              </a:rPr>
              <a:t>ER Modell megoldás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"/>
          <p:cNvSpPr txBox="1"/>
          <p:nvPr/>
        </p:nvSpPr>
        <p:spPr>
          <a:xfrm>
            <a:off x="468360" y="3600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4400" strike="noStrike">
                <a:latin typeface="Arial"/>
                <a:ea typeface="Arial"/>
                <a:cs typeface="Arial"/>
                <a:sym typeface="Arial"/>
              </a:rPr>
              <a:t>Gyakorlati példa II.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9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9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9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9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9"/>
          <p:cNvSpPr txBox="1"/>
          <p:nvPr/>
        </p:nvSpPr>
        <p:spPr>
          <a:xfrm>
            <a:off x="917820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9"/>
          <p:cNvSpPr txBox="1"/>
          <p:nvPr/>
        </p:nvSpPr>
        <p:spPr>
          <a:xfrm>
            <a:off x="180000" y="1306440"/>
            <a:ext cx="6120000" cy="3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000" y="2117520"/>
            <a:ext cx="9540000" cy="1662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"/>
          <p:cNvSpPr txBox="1"/>
          <p:nvPr/>
        </p:nvSpPr>
        <p:spPr>
          <a:xfrm>
            <a:off x="468360" y="3600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4400" strike="noStrike">
                <a:latin typeface="Arial"/>
                <a:ea typeface="Arial"/>
                <a:cs typeface="Arial"/>
                <a:sym typeface="Arial"/>
              </a:rPr>
              <a:t>Gyakorlati példa II.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0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0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0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0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0"/>
          <p:cNvSpPr txBox="1"/>
          <p:nvPr/>
        </p:nvSpPr>
        <p:spPr>
          <a:xfrm>
            <a:off x="917820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0"/>
          <p:cNvSpPr txBox="1"/>
          <p:nvPr/>
        </p:nvSpPr>
        <p:spPr>
          <a:xfrm>
            <a:off x="180000" y="1306440"/>
            <a:ext cx="6120000" cy="3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680" y="1346400"/>
            <a:ext cx="8365320" cy="351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1"/>
          <p:cNvSpPr txBox="1"/>
          <p:nvPr/>
        </p:nvSpPr>
        <p:spPr>
          <a:xfrm>
            <a:off x="468360" y="3600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4400" strike="noStrike">
                <a:latin typeface="Arial"/>
                <a:ea typeface="Arial"/>
                <a:cs typeface="Arial"/>
                <a:sym typeface="Arial"/>
              </a:rPr>
              <a:t>Gyakorlati példa III.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5" name="Google Shape;3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1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1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1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1"/>
          <p:cNvSpPr txBox="1"/>
          <p:nvPr/>
        </p:nvSpPr>
        <p:spPr>
          <a:xfrm>
            <a:off x="917820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1"/>
          <p:cNvSpPr txBox="1"/>
          <p:nvPr/>
        </p:nvSpPr>
        <p:spPr>
          <a:xfrm>
            <a:off x="180000" y="1306440"/>
            <a:ext cx="6120000" cy="3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1"/>
          <p:cNvSpPr txBox="1"/>
          <p:nvPr/>
        </p:nvSpPr>
        <p:spPr>
          <a:xfrm>
            <a:off x="103320" y="1620000"/>
            <a:ext cx="9796680" cy="3709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3200" strike="noStrike">
                <a:latin typeface="Arial"/>
                <a:ea typeface="Arial"/>
                <a:cs typeface="Arial"/>
                <a:sym typeface="Arial"/>
              </a:rPr>
              <a:t>Könyvtári könyvkölcsönzés: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2400" strike="noStrike">
                <a:latin typeface="Arial"/>
                <a:ea typeface="Arial"/>
                <a:cs typeface="Arial"/>
                <a:sym typeface="Arial"/>
              </a:rPr>
              <a:t>Az adatbázisban az Olvasókról tároljuk a nevüket és az Olvasójegy-számukat (ez utóbbi egyértelműen azonosítja őket). A Könyvekről eltároljuk a könyv ISBN-számát (ez az azonosító) és a könyv címét. Az olvasók könyveket kölcsönözhetnek ki a kölcsönöz kapcsolaton keresztül. Egy olvasó több könyvet is kikölcsönözhet, és egy könyvet az idők során több olvasó is kikölcsönözhet. Amikor egy olvasó kikölcsönöz egy könyvet, a kölcsönöz kapcsolathoz rögzítjük a kölcsönzés Dátumát is. Ennek alapján Rajzolja meg az ER-diagramot!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2"/>
          <p:cNvSpPr txBox="1"/>
          <p:nvPr/>
        </p:nvSpPr>
        <p:spPr>
          <a:xfrm>
            <a:off x="468360" y="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4400" strike="noStrike">
                <a:latin typeface="Arial"/>
                <a:ea typeface="Arial"/>
                <a:cs typeface="Arial"/>
                <a:sym typeface="Arial"/>
              </a:rPr>
              <a:t>Gyakorlati példa III.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2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2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2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2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2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2"/>
          <p:cNvSpPr txBox="1"/>
          <p:nvPr/>
        </p:nvSpPr>
        <p:spPr>
          <a:xfrm>
            <a:off x="917820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2"/>
          <p:cNvSpPr txBox="1"/>
          <p:nvPr/>
        </p:nvSpPr>
        <p:spPr>
          <a:xfrm>
            <a:off x="180000" y="1306440"/>
            <a:ext cx="6120000" cy="3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2"/>
          <p:cNvSpPr txBox="1"/>
          <p:nvPr/>
        </p:nvSpPr>
        <p:spPr>
          <a:xfrm>
            <a:off x="103320" y="1620000"/>
            <a:ext cx="979668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040" y="799920"/>
            <a:ext cx="8562960" cy="4466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/>
          <p:nvPr/>
        </p:nvSpPr>
        <p:spPr>
          <a:xfrm>
            <a:off x="468360" y="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hu-HU" sz="4400" strike="noStrike">
                <a:latin typeface="Arial"/>
                <a:ea typeface="Arial"/>
                <a:cs typeface="Arial"/>
                <a:sym typeface="Arial"/>
              </a:rPr>
              <a:t>Gyakorlati példa III.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3"/>
          <p:cNvSpPr/>
          <p:nvPr/>
        </p:nvSpPr>
        <p:spPr>
          <a:xfrm>
            <a:off x="0" y="5443920"/>
            <a:ext cx="10080000" cy="22608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3"/>
          <p:cNvSpPr/>
          <p:nvPr/>
        </p:nvSpPr>
        <p:spPr>
          <a:xfrm>
            <a:off x="0" y="0"/>
            <a:ext cx="10080000" cy="180000"/>
          </a:xfrm>
          <a:prstGeom prst="rect">
            <a:avLst/>
          </a:prstGeom>
          <a:solidFill>
            <a:srgbClr val="2A6099"/>
          </a:solidFill>
          <a:ln cap="flat" cmpd="sng" w="9525">
            <a:solidFill>
              <a:srgbClr val="2A6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3"/>
          <p:cNvSpPr txBox="1"/>
          <p:nvPr/>
        </p:nvSpPr>
        <p:spPr>
          <a:xfrm>
            <a:off x="165240" y="-36000"/>
            <a:ext cx="163908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BMSZC  Wesselényi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3"/>
          <p:cNvSpPr txBox="1"/>
          <p:nvPr/>
        </p:nvSpPr>
        <p:spPr>
          <a:xfrm>
            <a:off x="8531280" y="-36000"/>
            <a:ext cx="162576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Adatbázis-kezelés I</a:t>
            </a:r>
            <a:r>
              <a:rPr b="0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3"/>
          <p:cNvSpPr txBox="1"/>
          <p:nvPr/>
        </p:nvSpPr>
        <p:spPr>
          <a:xfrm>
            <a:off x="0" y="5443920"/>
            <a:ext cx="1080000" cy="346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u-HU" sz="12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Bevezetés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3"/>
          <p:cNvSpPr txBox="1"/>
          <p:nvPr/>
        </p:nvSpPr>
        <p:spPr>
          <a:xfrm>
            <a:off x="9178200" y="5443920"/>
            <a:ext cx="1130400" cy="292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1" lang="hu-HU" sz="1200" strike="noStrike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/19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3"/>
          <p:cNvSpPr txBox="1"/>
          <p:nvPr/>
        </p:nvSpPr>
        <p:spPr>
          <a:xfrm>
            <a:off x="180000" y="1306440"/>
            <a:ext cx="6120000" cy="3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3"/>
          <p:cNvSpPr txBox="1"/>
          <p:nvPr/>
        </p:nvSpPr>
        <p:spPr>
          <a:xfrm>
            <a:off x="103320" y="1620000"/>
            <a:ext cx="979668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60" y="766440"/>
            <a:ext cx="8627760" cy="45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